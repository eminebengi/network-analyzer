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00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21424"/>
            <a:ext cx="12188952"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0" y="0"/>
            <a:ext cx="45720" cy="685800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371600"/>
            <a:ext cx="4572000" cy="1097280"/>
          </a:xfrm>
          <a:prstGeom prst="rect">
            <a:avLst/>
          </a:prstGeom>
          <a:noFill/>
        </p:spPr>
        <p:txBody>
          <a:bodyPr wrap="square">
            <a:spAutoFit/>
          </a:bodyPr>
          <a:lstStyle/>
          <a:p>
            <a:pPr algn="l"/>
            <a:r>
              <a:rPr sz="3200" b="1" i="0">
                <a:solidFill>
                  <a:srgbClr val="00F2FE"/>
                </a:solidFill>
                <a:latin typeface="Segoe UI"/>
              </a:rPr>
              <a:t>🏥  HOSPITAL NET-SHIELD</a:t>
            </a:r>
          </a:p>
        </p:txBody>
      </p:sp>
      <p:sp>
        <p:nvSpPr>
          <p:cNvPr id="8" name="TextBox 7"/>
          <p:cNvSpPr txBox="1"/>
          <p:nvPr/>
        </p:nvSpPr>
        <p:spPr>
          <a:xfrm>
            <a:off x="274320" y="2423160"/>
            <a:ext cx="4572000" cy="640080"/>
          </a:xfrm>
          <a:prstGeom prst="rect">
            <a:avLst/>
          </a:prstGeom>
          <a:noFill/>
        </p:spPr>
        <p:txBody>
          <a:bodyPr wrap="square">
            <a:spAutoFit/>
          </a:bodyPr>
          <a:lstStyle/>
          <a:p>
            <a:pPr algn="l"/>
            <a:r>
              <a:rPr sz="1600" b="0" i="0">
                <a:solidFill>
                  <a:srgbClr val="FFFFFF"/>
                </a:solidFill>
                <a:latin typeface="Segoe UI"/>
              </a:rPr>
              <a:t>Hastane Ağ Güvenliği ve Risk Analiz Sistemi</a:t>
            </a:r>
          </a:p>
        </p:txBody>
      </p:sp>
      <p:sp>
        <p:nvSpPr>
          <p:cNvPr id="9" name="Rectangle 8"/>
          <p:cNvSpPr/>
          <p:nvPr/>
        </p:nvSpPr>
        <p:spPr>
          <a:xfrm>
            <a:off x="0" y="3154680"/>
            <a:ext cx="12188952"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46120"/>
            <a:ext cx="4572000" cy="457200"/>
          </a:xfrm>
          <a:prstGeom prst="rect">
            <a:avLst/>
          </a:prstGeom>
          <a:noFill/>
        </p:spPr>
        <p:txBody>
          <a:bodyPr wrap="square">
            <a:spAutoFit/>
          </a:bodyPr>
          <a:lstStyle/>
          <a:p>
            <a:pPr algn="l"/>
            <a:r>
              <a:rPr sz="1300" b="0" i="1">
                <a:solidFill>
                  <a:srgbClr val="94A3B8"/>
                </a:solidFill>
                <a:latin typeface="Segoe UI"/>
              </a:rPr>
              <a:t>Staj Bitirme Projesi Sunumu</a:t>
            </a:r>
          </a:p>
        </p:txBody>
      </p:sp>
      <p:sp>
        <p:nvSpPr>
          <p:cNvPr id="11" name="Rectangle 10"/>
          <p:cNvSpPr/>
          <p:nvPr/>
        </p:nvSpPr>
        <p:spPr>
          <a:xfrm>
            <a:off x="5303520" y="914400"/>
            <a:ext cx="6583680" cy="7772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40680" y="950976"/>
            <a:ext cx="6400800" cy="320040"/>
          </a:xfrm>
          <a:prstGeom prst="rect">
            <a:avLst/>
          </a:prstGeom>
          <a:noFill/>
        </p:spPr>
        <p:txBody>
          <a:bodyPr wrap="square">
            <a:spAutoFit/>
          </a:bodyPr>
          <a:lstStyle/>
          <a:p>
            <a:pPr algn="l"/>
            <a:r>
              <a:rPr sz="1000" b="1" i="0">
                <a:solidFill>
                  <a:srgbClr val="00F2FE"/>
                </a:solidFill>
                <a:latin typeface="Segoe UI"/>
              </a:rPr>
              <a:t>📌  Proje Türü</a:t>
            </a:r>
          </a:p>
        </p:txBody>
      </p:sp>
      <p:sp>
        <p:nvSpPr>
          <p:cNvPr id="13" name="TextBox 12"/>
          <p:cNvSpPr txBox="1"/>
          <p:nvPr/>
        </p:nvSpPr>
        <p:spPr>
          <a:xfrm>
            <a:off x="5440680" y="1261872"/>
            <a:ext cx="6400800" cy="411480"/>
          </a:xfrm>
          <a:prstGeom prst="rect">
            <a:avLst/>
          </a:prstGeom>
          <a:noFill/>
        </p:spPr>
        <p:txBody>
          <a:bodyPr wrap="square">
            <a:spAutoFit/>
          </a:bodyPr>
          <a:lstStyle/>
          <a:p>
            <a:pPr algn="l"/>
            <a:r>
              <a:rPr sz="1100" b="0" i="0">
                <a:solidFill>
                  <a:srgbClr val="FFFFFF"/>
                </a:solidFill>
                <a:latin typeface="Segoe UI"/>
              </a:rPr>
              <a:t>Ağ Güvenliği / Siber Güvenlik Analiz Aracı</a:t>
            </a:r>
          </a:p>
        </p:txBody>
      </p:sp>
      <p:sp>
        <p:nvSpPr>
          <p:cNvPr id="14" name="Rectangle 13"/>
          <p:cNvSpPr/>
          <p:nvPr/>
        </p:nvSpPr>
        <p:spPr>
          <a:xfrm>
            <a:off x="5303520" y="1874519"/>
            <a:ext cx="6583680" cy="7772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40680" y="1911095"/>
            <a:ext cx="6400800" cy="320040"/>
          </a:xfrm>
          <a:prstGeom prst="rect">
            <a:avLst/>
          </a:prstGeom>
          <a:noFill/>
        </p:spPr>
        <p:txBody>
          <a:bodyPr wrap="square">
            <a:spAutoFit/>
          </a:bodyPr>
          <a:lstStyle/>
          <a:p>
            <a:pPr algn="l"/>
            <a:r>
              <a:rPr sz="1000" b="1" i="0">
                <a:solidFill>
                  <a:srgbClr val="00F2FE"/>
                </a:solidFill>
                <a:latin typeface="Segoe UI"/>
              </a:rPr>
              <a:t>🔧  Teknoloji</a:t>
            </a:r>
          </a:p>
        </p:txBody>
      </p:sp>
      <p:sp>
        <p:nvSpPr>
          <p:cNvPr id="16" name="TextBox 15"/>
          <p:cNvSpPr txBox="1"/>
          <p:nvPr/>
        </p:nvSpPr>
        <p:spPr>
          <a:xfrm>
            <a:off x="5440680" y="2221991"/>
            <a:ext cx="6400800" cy="411480"/>
          </a:xfrm>
          <a:prstGeom prst="rect">
            <a:avLst/>
          </a:prstGeom>
          <a:noFill/>
        </p:spPr>
        <p:txBody>
          <a:bodyPr wrap="square">
            <a:spAutoFit/>
          </a:bodyPr>
          <a:lstStyle/>
          <a:p>
            <a:pPr algn="l"/>
            <a:r>
              <a:rPr sz="1100" b="0" i="0">
                <a:solidFill>
                  <a:srgbClr val="FFFFFF"/>
                </a:solidFill>
                <a:latin typeface="Segoe UI"/>
              </a:rPr>
              <a:t>Python · Flask · Nmap · PySNMP · SQLite</a:t>
            </a:r>
          </a:p>
        </p:txBody>
      </p:sp>
      <p:sp>
        <p:nvSpPr>
          <p:cNvPr id="17" name="Rectangle 16"/>
          <p:cNvSpPr/>
          <p:nvPr/>
        </p:nvSpPr>
        <p:spPr>
          <a:xfrm>
            <a:off x="5303520" y="2834639"/>
            <a:ext cx="6583680" cy="7772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2871215"/>
            <a:ext cx="6400800" cy="320040"/>
          </a:xfrm>
          <a:prstGeom prst="rect">
            <a:avLst/>
          </a:prstGeom>
          <a:noFill/>
        </p:spPr>
        <p:txBody>
          <a:bodyPr wrap="square">
            <a:spAutoFit/>
          </a:bodyPr>
          <a:lstStyle/>
          <a:p>
            <a:pPr algn="l"/>
            <a:r>
              <a:rPr sz="1000" b="1" i="0">
                <a:solidFill>
                  <a:srgbClr val="00F2FE"/>
                </a:solidFill>
                <a:latin typeface="Segoe UI"/>
              </a:rPr>
              <a:t>🖥️  Arayüz</a:t>
            </a:r>
          </a:p>
        </p:txBody>
      </p:sp>
      <p:sp>
        <p:nvSpPr>
          <p:cNvPr id="19" name="TextBox 18"/>
          <p:cNvSpPr txBox="1"/>
          <p:nvPr/>
        </p:nvSpPr>
        <p:spPr>
          <a:xfrm>
            <a:off x="5440680" y="3182111"/>
            <a:ext cx="6400800" cy="411480"/>
          </a:xfrm>
          <a:prstGeom prst="rect">
            <a:avLst/>
          </a:prstGeom>
          <a:noFill/>
        </p:spPr>
        <p:txBody>
          <a:bodyPr wrap="square">
            <a:spAutoFit/>
          </a:bodyPr>
          <a:lstStyle/>
          <a:p>
            <a:pPr algn="l"/>
            <a:r>
              <a:rPr sz="1100" b="0" i="0">
                <a:solidFill>
                  <a:srgbClr val="FFFFFF"/>
                </a:solidFill>
                <a:latin typeface="Segoe UI"/>
              </a:rPr>
              <a:t>HTML · CSS (Glassmorphism) · JavaScript · Chart.js</a:t>
            </a:r>
          </a:p>
        </p:txBody>
      </p:sp>
      <p:sp>
        <p:nvSpPr>
          <p:cNvPr id="20" name="Rectangle 19"/>
          <p:cNvSpPr/>
          <p:nvPr/>
        </p:nvSpPr>
        <p:spPr>
          <a:xfrm>
            <a:off x="5303520" y="3794759"/>
            <a:ext cx="6583680" cy="7772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40680" y="3831335"/>
            <a:ext cx="6400800" cy="320040"/>
          </a:xfrm>
          <a:prstGeom prst="rect">
            <a:avLst/>
          </a:prstGeom>
          <a:noFill/>
        </p:spPr>
        <p:txBody>
          <a:bodyPr wrap="square">
            <a:spAutoFit/>
          </a:bodyPr>
          <a:lstStyle/>
          <a:p>
            <a:pPr algn="l"/>
            <a:r>
              <a:rPr sz="1000" b="1" i="0">
                <a:solidFill>
                  <a:srgbClr val="00F2FE"/>
                </a:solidFill>
                <a:latin typeface="Segoe UI"/>
              </a:rPr>
              <a:t>🎯  Hedef</a:t>
            </a:r>
          </a:p>
        </p:txBody>
      </p:sp>
      <p:sp>
        <p:nvSpPr>
          <p:cNvPr id="22" name="TextBox 21"/>
          <p:cNvSpPr txBox="1"/>
          <p:nvPr/>
        </p:nvSpPr>
        <p:spPr>
          <a:xfrm>
            <a:off x="5440680" y="4142231"/>
            <a:ext cx="6400800" cy="411480"/>
          </a:xfrm>
          <a:prstGeom prst="rect">
            <a:avLst/>
          </a:prstGeom>
          <a:noFill/>
        </p:spPr>
        <p:txBody>
          <a:bodyPr wrap="square">
            <a:spAutoFit/>
          </a:bodyPr>
          <a:lstStyle/>
          <a:p>
            <a:pPr algn="l"/>
            <a:r>
              <a:rPr sz="1100" b="0" i="0">
                <a:solidFill>
                  <a:srgbClr val="FFFFFF"/>
                </a:solidFill>
                <a:latin typeface="Segoe UI"/>
              </a:rPr>
              <a:t>Hastane bilişim altyapısında zafiyet tespiti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F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400" b="1" i="0">
                <a:solidFill>
                  <a:srgbClr val="FF2A5F"/>
                </a:solidFill>
                <a:latin typeface="Segoe UI"/>
              </a:rPr>
              <a:t>❗  Problem Tanımı &amp; Projenin Amacı</a:t>
            </a:r>
          </a:p>
        </p:txBody>
      </p:sp>
      <p:sp>
        <p:nvSpPr>
          <p:cNvPr id="5" name="Rectangle 4"/>
          <p:cNvSpPr/>
          <p:nvPr/>
        </p:nvSpPr>
        <p:spPr>
          <a:xfrm>
            <a:off x="274320" y="914400"/>
            <a:ext cx="3749039"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005840"/>
            <a:ext cx="3474720" cy="640080"/>
          </a:xfrm>
          <a:prstGeom prst="rect">
            <a:avLst/>
          </a:prstGeom>
          <a:noFill/>
        </p:spPr>
        <p:txBody>
          <a:bodyPr wrap="square">
            <a:spAutoFit/>
          </a:bodyPr>
          <a:lstStyle/>
          <a:p>
            <a:pPr algn="l"/>
            <a:r>
              <a:rPr sz="1300" b="1" i="0">
                <a:solidFill>
                  <a:srgbClr val="FF9900"/>
                </a:solidFill>
                <a:latin typeface="Segoe UI"/>
              </a:rPr>
              <a:t>🏥  Hastane Ağlarının
Tehditleri</a:t>
            </a:r>
          </a:p>
        </p:txBody>
      </p:sp>
      <p:sp>
        <p:nvSpPr>
          <p:cNvPr id="7" name="TextBox 6"/>
          <p:cNvSpPr txBox="1"/>
          <p:nvPr/>
        </p:nvSpPr>
        <p:spPr>
          <a:xfrm>
            <a:off x="411479" y="1691640"/>
            <a:ext cx="3474720" cy="4572000"/>
          </a:xfrm>
          <a:prstGeom prst="rect">
            <a:avLst/>
          </a:prstGeom>
          <a:noFill/>
        </p:spPr>
        <p:txBody>
          <a:bodyPr wrap="square">
            <a:spAutoFit/>
          </a:bodyPr>
          <a:lstStyle/>
          <a:p>
            <a:pPr algn="l"/>
            <a:r>
              <a:rPr sz="1100" b="0" i="0">
                <a:solidFill>
                  <a:srgbClr val="FFFFFF"/>
                </a:solidFill>
                <a:latin typeface="Segoe UI"/>
              </a:rPr>
              <a:t>• WannaCry fidye yazılımı 2017'de yüzlerce hastaneyi felç etti.
• Açık SMB (445), RDP (3389) portları kritik saldırı vektörü.
• Tıbbi cihazlar (PACS, DICOM) genellikle segmentsiz ağda yer alır.</a:t>
            </a:r>
          </a:p>
        </p:txBody>
      </p:sp>
      <p:sp>
        <p:nvSpPr>
          <p:cNvPr id="8" name="Rectangle 7"/>
          <p:cNvSpPr/>
          <p:nvPr/>
        </p:nvSpPr>
        <p:spPr>
          <a:xfrm>
            <a:off x="4251959" y="914400"/>
            <a:ext cx="3749039"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005840"/>
            <a:ext cx="3474720" cy="640080"/>
          </a:xfrm>
          <a:prstGeom prst="rect">
            <a:avLst/>
          </a:prstGeom>
          <a:noFill/>
        </p:spPr>
        <p:txBody>
          <a:bodyPr wrap="square">
            <a:spAutoFit/>
          </a:bodyPr>
          <a:lstStyle/>
          <a:p>
            <a:pPr algn="l"/>
            <a:r>
              <a:rPr sz="1300" b="1" i="0">
                <a:solidFill>
                  <a:srgbClr val="FF9900"/>
                </a:solidFill>
                <a:latin typeface="Segoe UI"/>
              </a:rPr>
              <a:t>🎯  Neden Bu Proje?</a:t>
            </a:r>
          </a:p>
        </p:txBody>
      </p:sp>
      <p:sp>
        <p:nvSpPr>
          <p:cNvPr id="10" name="TextBox 9"/>
          <p:cNvSpPr txBox="1"/>
          <p:nvPr/>
        </p:nvSpPr>
        <p:spPr>
          <a:xfrm>
            <a:off x="4389120" y="1691640"/>
            <a:ext cx="3474720" cy="4572000"/>
          </a:xfrm>
          <a:prstGeom prst="rect">
            <a:avLst/>
          </a:prstGeom>
          <a:noFill/>
        </p:spPr>
        <p:txBody>
          <a:bodyPr wrap="square">
            <a:spAutoFit/>
          </a:bodyPr>
          <a:lstStyle/>
          <a:p>
            <a:pPr algn="l"/>
            <a:r>
              <a:rPr sz="1100" b="0" i="0">
                <a:solidFill>
                  <a:srgbClr val="FFFFFF"/>
                </a:solidFill>
                <a:latin typeface="Segoe UI"/>
              </a:rPr>
              <a:t>• Piyasadaki Nmap, Nessus gibi araçlar genel amaçlı.
• Hastaneye özel (DICOM, HBYS, PACS) risk analizi yok.
• Cihazın IP'si değil fiziksel konumu da kritik (hangi switch/port?).</a:t>
            </a:r>
          </a:p>
        </p:txBody>
      </p:sp>
      <p:sp>
        <p:nvSpPr>
          <p:cNvPr id="11" name="Rectangle 10"/>
          <p:cNvSpPr/>
          <p:nvPr/>
        </p:nvSpPr>
        <p:spPr>
          <a:xfrm>
            <a:off x="8229600" y="914400"/>
            <a:ext cx="3749039"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005840"/>
            <a:ext cx="3474720" cy="640080"/>
          </a:xfrm>
          <a:prstGeom prst="rect">
            <a:avLst/>
          </a:prstGeom>
          <a:noFill/>
        </p:spPr>
        <p:txBody>
          <a:bodyPr wrap="square">
            <a:spAutoFit/>
          </a:bodyPr>
          <a:lstStyle/>
          <a:p>
            <a:pPr algn="l"/>
            <a:r>
              <a:rPr sz="1300" b="1" i="0">
                <a:solidFill>
                  <a:srgbClr val="FF9900"/>
                </a:solidFill>
                <a:latin typeface="Segoe UI"/>
              </a:rPr>
              <a:t>✅  Projenin Çözümü</a:t>
            </a:r>
          </a:p>
        </p:txBody>
      </p:sp>
      <p:sp>
        <p:nvSpPr>
          <p:cNvPr id="13" name="TextBox 12"/>
          <p:cNvSpPr txBox="1"/>
          <p:nvPr/>
        </p:nvSpPr>
        <p:spPr>
          <a:xfrm>
            <a:off x="8366760" y="1691640"/>
            <a:ext cx="3474720" cy="4572000"/>
          </a:xfrm>
          <a:prstGeom prst="rect">
            <a:avLst/>
          </a:prstGeom>
          <a:noFill/>
        </p:spPr>
        <p:txBody>
          <a:bodyPr wrap="square">
            <a:spAutoFit/>
          </a:bodyPr>
          <a:lstStyle/>
          <a:p>
            <a:pPr algn="l"/>
            <a:r>
              <a:rPr sz="1100" b="0" i="0">
                <a:solidFill>
                  <a:srgbClr val="FFFFFF"/>
                </a:solidFill>
                <a:latin typeface="Segoe UI"/>
              </a:rPr>
              <a:t>• Hastaneye özel port &amp; zafiyet kütüphanesi.
• SNMP ile switch üzerinden fiziksel konum tespiti.
• Web tabanlı, gerçek zamanlı SOC (Güvenlik Operasyon Merkezi) paneli.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400" b="1" i="0">
                <a:solidFill>
                  <a:srgbClr val="00F2FE"/>
                </a:solidFill>
                <a:latin typeface="Segoe UI"/>
              </a:rPr>
              <a:t>⚙️  Kullanılan Teknolojiler (Tech Stack)</a:t>
            </a:r>
          </a:p>
        </p:txBody>
      </p:sp>
      <p:sp>
        <p:nvSpPr>
          <p:cNvPr id="5" name="Rectangle 4"/>
          <p:cNvSpPr/>
          <p:nvPr/>
        </p:nvSpPr>
        <p:spPr>
          <a:xfrm>
            <a:off x="274320" y="914400"/>
            <a:ext cx="5669280" cy="12344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987552"/>
            <a:ext cx="5394960" cy="365760"/>
          </a:xfrm>
          <a:prstGeom prst="rect">
            <a:avLst/>
          </a:prstGeom>
          <a:noFill/>
        </p:spPr>
        <p:txBody>
          <a:bodyPr wrap="square">
            <a:spAutoFit/>
          </a:bodyPr>
          <a:lstStyle/>
          <a:p>
            <a:pPr algn="l"/>
            <a:r>
              <a:rPr sz="1300" b="1" i="0">
                <a:solidFill>
                  <a:srgbClr val="00F2FE"/>
                </a:solidFill>
                <a:latin typeface="Segoe UI"/>
              </a:rPr>
              <a:t>🐍  Python 3</a:t>
            </a:r>
          </a:p>
        </p:txBody>
      </p:sp>
      <p:sp>
        <p:nvSpPr>
          <p:cNvPr id="7" name="TextBox 6"/>
          <p:cNvSpPr txBox="1"/>
          <p:nvPr/>
        </p:nvSpPr>
        <p:spPr>
          <a:xfrm>
            <a:off x="411479" y="1389888"/>
            <a:ext cx="5394960" cy="777240"/>
          </a:xfrm>
          <a:prstGeom prst="rect">
            <a:avLst/>
          </a:prstGeom>
          <a:noFill/>
        </p:spPr>
        <p:txBody>
          <a:bodyPr wrap="square">
            <a:spAutoFit/>
          </a:bodyPr>
          <a:lstStyle/>
          <a:p>
            <a:pPr algn="l"/>
            <a:r>
              <a:rPr sz="1000" b="0" i="0">
                <a:solidFill>
                  <a:srgbClr val="94A3B8"/>
                </a:solidFill>
                <a:latin typeface="Segoe UI"/>
              </a:rPr>
              <a:t>Projenin ana geliştirme dili. Modüler yapı sayesinde her bileşen bağımsız çalışır.</a:t>
            </a:r>
          </a:p>
        </p:txBody>
      </p:sp>
      <p:sp>
        <p:nvSpPr>
          <p:cNvPr id="8" name="Rectangle 7"/>
          <p:cNvSpPr/>
          <p:nvPr/>
        </p:nvSpPr>
        <p:spPr>
          <a:xfrm>
            <a:off x="6263640" y="914400"/>
            <a:ext cx="5669280" cy="12344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987552"/>
            <a:ext cx="5394960" cy="365760"/>
          </a:xfrm>
          <a:prstGeom prst="rect">
            <a:avLst/>
          </a:prstGeom>
          <a:noFill/>
        </p:spPr>
        <p:txBody>
          <a:bodyPr wrap="square">
            <a:spAutoFit/>
          </a:bodyPr>
          <a:lstStyle/>
          <a:p>
            <a:pPr algn="l"/>
            <a:r>
              <a:rPr sz="1300" b="1" i="0">
                <a:solidFill>
                  <a:srgbClr val="00E676"/>
                </a:solidFill>
                <a:latin typeface="Segoe UI"/>
              </a:rPr>
              <a:t>🌐  Flask</a:t>
            </a:r>
          </a:p>
        </p:txBody>
      </p:sp>
      <p:sp>
        <p:nvSpPr>
          <p:cNvPr id="10" name="TextBox 9"/>
          <p:cNvSpPr txBox="1"/>
          <p:nvPr/>
        </p:nvSpPr>
        <p:spPr>
          <a:xfrm>
            <a:off x="6400800" y="1389888"/>
            <a:ext cx="5394960" cy="777240"/>
          </a:xfrm>
          <a:prstGeom prst="rect">
            <a:avLst/>
          </a:prstGeom>
          <a:noFill/>
        </p:spPr>
        <p:txBody>
          <a:bodyPr wrap="square">
            <a:spAutoFit/>
          </a:bodyPr>
          <a:lstStyle/>
          <a:p>
            <a:pPr algn="l"/>
            <a:r>
              <a:rPr sz="1000" b="0" i="0">
                <a:solidFill>
                  <a:srgbClr val="94A3B8"/>
                </a:solidFill>
                <a:latin typeface="Segoe UI"/>
              </a:rPr>
              <a:t>Hafif ve hızlı Python web framework'ü. REST API sunucusu olarak kullanıldı.</a:t>
            </a:r>
          </a:p>
        </p:txBody>
      </p:sp>
      <p:sp>
        <p:nvSpPr>
          <p:cNvPr id="11" name="Rectangle 10"/>
          <p:cNvSpPr/>
          <p:nvPr/>
        </p:nvSpPr>
        <p:spPr>
          <a:xfrm>
            <a:off x="274320" y="2331720"/>
            <a:ext cx="5669280" cy="12344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79" y="2404872"/>
            <a:ext cx="5394960" cy="365760"/>
          </a:xfrm>
          <a:prstGeom prst="rect">
            <a:avLst/>
          </a:prstGeom>
          <a:noFill/>
        </p:spPr>
        <p:txBody>
          <a:bodyPr wrap="square">
            <a:spAutoFit/>
          </a:bodyPr>
          <a:lstStyle/>
          <a:p>
            <a:pPr algn="l"/>
            <a:r>
              <a:rPr sz="1300" b="1" i="0">
                <a:solidFill>
                  <a:srgbClr val="FF9900"/>
                </a:solidFill>
                <a:latin typeface="Segoe UI"/>
              </a:rPr>
              <a:t>🔍  Nmap / python-nmap</a:t>
            </a:r>
          </a:p>
        </p:txBody>
      </p:sp>
      <p:sp>
        <p:nvSpPr>
          <p:cNvPr id="13" name="TextBox 12"/>
          <p:cNvSpPr txBox="1"/>
          <p:nvPr/>
        </p:nvSpPr>
        <p:spPr>
          <a:xfrm>
            <a:off x="411479" y="2807208"/>
            <a:ext cx="5394960" cy="777240"/>
          </a:xfrm>
          <a:prstGeom prst="rect">
            <a:avLst/>
          </a:prstGeom>
          <a:noFill/>
        </p:spPr>
        <p:txBody>
          <a:bodyPr wrap="square">
            <a:spAutoFit/>
          </a:bodyPr>
          <a:lstStyle/>
          <a:p>
            <a:pPr algn="l"/>
            <a:r>
              <a:rPr sz="1000" b="0" i="0">
                <a:solidFill>
                  <a:srgbClr val="94A3B8"/>
                </a:solidFill>
                <a:latin typeface="Segoe UI"/>
              </a:rPr>
              <a:t>Subnet üzerinde aktif cihaz taraması ve servis versiyon tespiti için kullanıldı.</a:t>
            </a:r>
          </a:p>
        </p:txBody>
      </p:sp>
      <p:sp>
        <p:nvSpPr>
          <p:cNvPr id="14" name="Rectangle 13"/>
          <p:cNvSpPr/>
          <p:nvPr/>
        </p:nvSpPr>
        <p:spPr>
          <a:xfrm>
            <a:off x="6263640" y="2331720"/>
            <a:ext cx="5669280" cy="12344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404872"/>
            <a:ext cx="5394960" cy="365760"/>
          </a:xfrm>
          <a:prstGeom prst="rect">
            <a:avLst/>
          </a:prstGeom>
          <a:noFill/>
        </p:spPr>
        <p:txBody>
          <a:bodyPr wrap="square">
            <a:spAutoFit/>
          </a:bodyPr>
          <a:lstStyle/>
          <a:p>
            <a:pPr algn="l"/>
            <a:r>
              <a:rPr sz="1300" b="1" i="0">
                <a:solidFill>
                  <a:srgbClr val="00F2FE"/>
                </a:solidFill>
                <a:latin typeface="Segoe UI"/>
              </a:rPr>
              <a:t>📡  PySNMP</a:t>
            </a:r>
          </a:p>
        </p:txBody>
      </p:sp>
      <p:sp>
        <p:nvSpPr>
          <p:cNvPr id="16" name="TextBox 15"/>
          <p:cNvSpPr txBox="1"/>
          <p:nvPr/>
        </p:nvSpPr>
        <p:spPr>
          <a:xfrm>
            <a:off x="6400800" y="2807208"/>
            <a:ext cx="5394960" cy="777240"/>
          </a:xfrm>
          <a:prstGeom prst="rect">
            <a:avLst/>
          </a:prstGeom>
          <a:noFill/>
        </p:spPr>
        <p:txBody>
          <a:bodyPr wrap="square">
            <a:spAutoFit/>
          </a:bodyPr>
          <a:lstStyle/>
          <a:p>
            <a:pPr algn="l"/>
            <a:r>
              <a:rPr sz="1000" b="0" i="0">
                <a:solidFill>
                  <a:srgbClr val="94A3B8"/>
                </a:solidFill>
                <a:latin typeface="Segoe UI"/>
              </a:rPr>
              <a:t>Switch'lere SNMP sorgusu atarak cihazın fiziksel bağlantı noktasını tespit eder.</a:t>
            </a:r>
          </a:p>
        </p:txBody>
      </p:sp>
      <p:sp>
        <p:nvSpPr>
          <p:cNvPr id="17" name="Rectangle 16"/>
          <p:cNvSpPr/>
          <p:nvPr/>
        </p:nvSpPr>
        <p:spPr>
          <a:xfrm>
            <a:off x="274320" y="3749039"/>
            <a:ext cx="5669280" cy="12344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79" y="3822191"/>
            <a:ext cx="5394960" cy="365760"/>
          </a:xfrm>
          <a:prstGeom prst="rect">
            <a:avLst/>
          </a:prstGeom>
          <a:noFill/>
        </p:spPr>
        <p:txBody>
          <a:bodyPr wrap="square">
            <a:spAutoFit/>
          </a:bodyPr>
          <a:lstStyle/>
          <a:p>
            <a:pPr algn="l"/>
            <a:r>
              <a:rPr sz="1300" b="1" i="0">
                <a:solidFill>
                  <a:srgbClr val="00E676"/>
                </a:solidFill>
                <a:latin typeface="Segoe UI"/>
              </a:rPr>
              <a:t>🗄️  SQLite</a:t>
            </a:r>
          </a:p>
        </p:txBody>
      </p:sp>
      <p:sp>
        <p:nvSpPr>
          <p:cNvPr id="19" name="TextBox 18"/>
          <p:cNvSpPr txBox="1"/>
          <p:nvPr/>
        </p:nvSpPr>
        <p:spPr>
          <a:xfrm>
            <a:off x="411479" y="4224527"/>
            <a:ext cx="5394960" cy="777240"/>
          </a:xfrm>
          <a:prstGeom prst="rect">
            <a:avLst/>
          </a:prstGeom>
          <a:noFill/>
        </p:spPr>
        <p:txBody>
          <a:bodyPr wrap="square">
            <a:spAutoFit/>
          </a:bodyPr>
          <a:lstStyle/>
          <a:p>
            <a:pPr algn="l"/>
            <a:r>
              <a:rPr sz="1000" b="0" i="0">
                <a:solidFill>
                  <a:srgbClr val="94A3B8"/>
                </a:solidFill>
                <a:latin typeface="Segoe UI"/>
              </a:rPr>
              <a:t>Hafif, sunucu gerektirmeyen veritabanı. Tarama geçmişini kalıcı olarak saklar.</a:t>
            </a:r>
          </a:p>
        </p:txBody>
      </p:sp>
      <p:sp>
        <p:nvSpPr>
          <p:cNvPr id="20" name="Rectangle 19"/>
          <p:cNvSpPr/>
          <p:nvPr/>
        </p:nvSpPr>
        <p:spPr>
          <a:xfrm>
            <a:off x="6263640" y="3749039"/>
            <a:ext cx="5669280" cy="12344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822191"/>
            <a:ext cx="5394960" cy="365760"/>
          </a:xfrm>
          <a:prstGeom prst="rect">
            <a:avLst/>
          </a:prstGeom>
          <a:noFill/>
        </p:spPr>
        <p:txBody>
          <a:bodyPr wrap="square">
            <a:spAutoFit/>
          </a:bodyPr>
          <a:lstStyle/>
          <a:p>
            <a:pPr algn="l"/>
            <a:r>
              <a:rPr sz="1300" b="1" i="0">
                <a:solidFill>
                  <a:srgbClr val="FF9900"/>
                </a:solidFill>
                <a:latin typeface="Segoe UI"/>
              </a:rPr>
              <a:t>🎨  Chart.js / JS</a:t>
            </a:r>
          </a:p>
        </p:txBody>
      </p:sp>
      <p:sp>
        <p:nvSpPr>
          <p:cNvPr id="22" name="TextBox 21"/>
          <p:cNvSpPr txBox="1"/>
          <p:nvPr/>
        </p:nvSpPr>
        <p:spPr>
          <a:xfrm>
            <a:off x="6400800" y="4224527"/>
            <a:ext cx="5394960" cy="777240"/>
          </a:xfrm>
          <a:prstGeom prst="rect">
            <a:avLst/>
          </a:prstGeom>
          <a:noFill/>
        </p:spPr>
        <p:txBody>
          <a:bodyPr wrap="square">
            <a:spAutoFit/>
          </a:bodyPr>
          <a:lstStyle/>
          <a:p>
            <a:pPr algn="l"/>
            <a:r>
              <a:rPr sz="1000" b="0" i="0">
                <a:solidFill>
                  <a:srgbClr val="94A3B8"/>
                </a:solidFill>
                <a:latin typeface="Segoe UI"/>
              </a:rPr>
              <a:t>Canlı risk grafiği ve asenkron polling ile dinamik web arayüzü.</a:t>
            </a:r>
          </a:p>
        </p:txBody>
      </p:sp>
      <p:sp>
        <p:nvSpPr>
          <p:cNvPr id="23" name="Rectangle 22"/>
          <p:cNvSpPr/>
          <p:nvPr/>
        </p:nvSpPr>
        <p:spPr>
          <a:xfrm>
            <a:off x="274320" y="5166360"/>
            <a:ext cx="5669280" cy="12344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5239512"/>
            <a:ext cx="5394960" cy="365760"/>
          </a:xfrm>
          <a:prstGeom prst="rect">
            <a:avLst/>
          </a:prstGeom>
          <a:noFill/>
        </p:spPr>
        <p:txBody>
          <a:bodyPr wrap="square">
            <a:spAutoFit/>
          </a:bodyPr>
          <a:lstStyle/>
          <a:p>
            <a:pPr algn="l"/>
            <a:r>
              <a:rPr sz="1300" b="1" i="0">
                <a:solidFill>
                  <a:srgbClr val="FF2A5F"/>
                </a:solidFill>
                <a:latin typeface="Segoe UI"/>
              </a:rPr>
              <a:t>🔐  python-dotenv</a:t>
            </a:r>
          </a:p>
        </p:txBody>
      </p:sp>
      <p:sp>
        <p:nvSpPr>
          <p:cNvPr id="25" name="TextBox 24"/>
          <p:cNvSpPr txBox="1"/>
          <p:nvPr/>
        </p:nvSpPr>
        <p:spPr>
          <a:xfrm>
            <a:off x="411479" y="5641848"/>
            <a:ext cx="5394960" cy="777240"/>
          </a:xfrm>
          <a:prstGeom prst="rect">
            <a:avLst/>
          </a:prstGeom>
          <a:noFill/>
        </p:spPr>
        <p:txBody>
          <a:bodyPr wrap="square">
            <a:spAutoFit/>
          </a:bodyPr>
          <a:lstStyle/>
          <a:p>
            <a:pPr algn="l"/>
            <a:r>
              <a:rPr sz="1000" b="0" i="0">
                <a:solidFill>
                  <a:srgbClr val="94A3B8"/>
                </a:solidFill>
                <a:latin typeface="Segoe UI"/>
              </a:rPr>
              <a:t>Kimlik bilgilerini (şifre, gizli anahtar) kod dışında .env ile yönetir.</a:t>
            </a:r>
          </a:p>
        </p:txBody>
      </p:sp>
      <p:sp>
        <p:nvSpPr>
          <p:cNvPr id="26" name="Rectangle 25"/>
          <p:cNvSpPr/>
          <p:nvPr/>
        </p:nvSpPr>
        <p:spPr>
          <a:xfrm>
            <a:off x="6263640" y="5166360"/>
            <a:ext cx="5669280" cy="12344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5239512"/>
            <a:ext cx="5394960" cy="365760"/>
          </a:xfrm>
          <a:prstGeom prst="rect">
            <a:avLst/>
          </a:prstGeom>
          <a:noFill/>
        </p:spPr>
        <p:txBody>
          <a:bodyPr wrap="square">
            <a:spAutoFit/>
          </a:bodyPr>
          <a:lstStyle/>
          <a:p>
            <a:pPr algn="l"/>
            <a:r>
              <a:rPr sz="1300" b="1" i="0">
                <a:solidFill>
                  <a:srgbClr val="00F2FE"/>
                </a:solidFill>
                <a:latin typeface="Segoe UI"/>
              </a:rPr>
              <a:t>🧵  Threading</a:t>
            </a:r>
          </a:p>
        </p:txBody>
      </p:sp>
      <p:sp>
        <p:nvSpPr>
          <p:cNvPr id="28" name="TextBox 27"/>
          <p:cNvSpPr txBox="1"/>
          <p:nvPr/>
        </p:nvSpPr>
        <p:spPr>
          <a:xfrm>
            <a:off x="6400800" y="5641848"/>
            <a:ext cx="5394960" cy="777240"/>
          </a:xfrm>
          <a:prstGeom prst="rect">
            <a:avLst/>
          </a:prstGeom>
          <a:noFill/>
        </p:spPr>
        <p:txBody>
          <a:bodyPr wrap="square">
            <a:spAutoFit/>
          </a:bodyPr>
          <a:lstStyle/>
          <a:p>
            <a:pPr algn="l"/>
            <a:r>
              <a:rPr sz="1000" b="0" i="0">
                <a:solidFill>
                  <a:srgbClr val="94A3B8"/>
                </a:solidFill>
                <a:latin typeface="Segoe UI"/>
              </a:rPr>
              <a:t>Nmap taramalarını arka plana alarak web sunucusunun kilitlenmesini önler.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400" b="1" i="0">
                <a:solidFill>
                  <a:srgbClr val="00E676"/>
                </a:solidFill>
                <a:latin typeface="Segoe UI"/>
              </a:rPr>
              <a:t>🏗️  Sistem Mimarisi</a:t>
            </a:r>
          </a:p>
        </p:txBody>
      </p:sp>
      <p:sp>
        <p:nvSpPr>
          <p:cNvPr id="5" name="Rectangle 4"/>
          <p:cNvSpPr/>
          <p:nvPr/>
        </p:nvSpPr>
        <p:spPr>
          <a:xfrm>
            <a:off x="365760" y="1005840"/>
            <a:ext cx="2286000" cy="13716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2103120" cy="640080"/>
          </a:xfrm>
          <a:prstGeom prst="rect">
            <a:avLst/>
          </a:prstGeom>
          <a:noFill/>
        </p:spPr>
        <p:txBody>
          <a:bodyPr wrap="square">
            <a:spAutoFit/>
          </a:bodyPr>
          <a:lstStyle/>
          <a:p>
            <a:pPr algn="ctr"/>
            <a:r>
              <a:rPr sz="1000" b="1" i="0">
                <a:solidFill>
                  <a:srgbClr val="00F2FE"/>
                </a:solidFill>
                <a:latin typeface="Segoe UI"/>
              </a:rPr>
              <a:t>🖥️  Web Arayüzü
(index.html / app.js)</a:t>
            </a:r>
          </a:p>
        </p:txBody>
      </p:sp>
      <p:sp>
        <p:nvSpPr>
          <p:cNvPr id="7" name="TextBox 6"/>
          <p:cNvSpPr txBox="1"/>
          <p:nvPr/>
        </p:nvSpPr>
        <p:spPr>
          <a:xfrm>
            <a:off x="457200" y="1737360"/>
            <a:ext cx="2103120" cy="594360"/>
          </a:xfrm>
          <a:prstGeom prst="rect">
            <a:avLst/>
          </a:prstGeom>
          <a:noFill/>
        </p:spPr>
        <p:txBody>
          <a:bodyPr wrap="square">
            <a:spAutoFit/>
          </a:bodyPr>
          <a:lstStyle/>
          <a:p>
            <a:pPr algn="ctr"/>
            <a:r>
              <a:rPr sz="850" b="0" i="0">
                <a:solidFill>
                  <a:srgbClr val="94A3B8"/>
                </a:solidFill>
                <a:latin typeface="Segoe UI"/>
              </a:rPr>
              <a:t>Kullanıcı subnet/IP girer,
taramayı başlatır.</a:t>
            </a:r>
          </a:p>
        </p:txBody>
      </p:sp>
      <p:sp>
        <p:nvSpPr>
          <p:cNvPr id="8" name="Rectangle 7"/>
          <p:cNvSpPr/>
          <p:nvPr/>
        </p:nvSpPr>
        <p:spPr>
          <a:xfrm>
            <a:off x="2926080" y="1005840"/>
            <a:ext cx="2286000" cy="13716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097280"/>
            <a:ext cx="2103120" cy="640080"/>
          </a:xfrm>
          <a:prstGeom prst="rect">
            <a:avLst/>
          </a:prstGeom>
          <a:noFill/>
        </p:spPr>
        <p:txBody>
          <a:bodyPr wrap="square">
            <a:spAutoFit/>
          </a:bodyPr>
          <a:lstStyle/>
          <a:p>
            <a:pPr algn="ctr"/>
            <a:r>
              <a:rPr sz="1000" b="1" i="0">
                <a:solidFill>
                  <a:srgbClr val="00E676"/>
                </a:solidFill>
                <a:latin typeface="Segoe UI"/>
              </a:rPr>
              <a:t>⚙️  Flask API
(server.py)</a:t>
            </a:r>
          </a:p>
        </p:txBody>
      </p:sp>
      <p:sp>
        <p:nvSpPr>
          <p:cNvPr id="10" name="TextBox 9"/>
          <p:cNvSpPr txBox="1"/>
          <p:nvPr/>
        </p:nvSpPr>
        <p:spPr>
          <a:xfrm>
            <a:off x="3017520" y="1737360"/>
            <a:ext cx="2103120" cy="594360"/>
          </a:xfrm>
          <a:prstGeom prst="rect">
            <a:avLst/>
          </a:prstGeom>
          <a:noFill/>
        </p:spPr>
        <p:txBody>
          <a:bodyPr wrap="square">
            <a:spAutoFit/>
          </a:bodyPr>
          <a:lstStyle/>
          <a:p>
            <a:pPr algn="ctr"/>
            <a:r>
              <a:rPr sz="850" b="0" i="0">
                <a:solidFill>
                  <a:srgbClr val="94A3B8"/>
                </a:solidFill>
                <a:latin typeface="Segoe UI"/>
              </a:rPr>
              <a:t>İsteği alır, arka plan
thread'i başlatır, Task ID döner.</a:t>
            </a:r>
          </a:p>
        </p:txBody>
      </p:sp>
      <p:sp>
        <p:nvSpPr>
          <p:cNvPr id="11" name="Rectangle 10"/>
          <p:cNvSpPr/>
          <p:nvPr/>
        </p:nvSpPr>
        <p:spPr>
          <a:xfrm>
            <a:off x="5486400" y="1005840"/>
            <a:ext cx="2286000" cy="13716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097280"/>
            <a:ext cx="2103120" cy="640080"/>
          </a:xfrm>
          <a:prstGeom prst="rect">
            <a:avLst/>
          </a:prstGeom>
          <a:noFill/>
        </p:spPr>
        <p:txBody>
          <a:bodyPr wrap="square">
            <a:spAutoFit/>
          </a:bodyPr>
          <a:lstStyle/>
          <a:p>
            <a:pPr algn="ctr"/>
            <a:r>
              <a:rPr sz="1000" b="1" i="0">
                <a:solidFill>
                  <a:srgbClr val="FF9900"/>
                </a:solidFill>
                <a:latin typeface="Segoe UI"/>
              </a:rPr>
              <a:t>🔍  Scanner
(scanner.py)</a:t>
            </a:r>
          </a:p>
        </p:txBody>
      </p:sp>
      <p:sp>
        <p:nvSpPr>
          <p:cNvPr id="13" name="TextBox 12"/>
          <p:cNvSpPr txBox="1"/>
          <p:nvPr/>
        </p:nvSpPr>
        <p:spPr>
          <a:xfrm>
            <a:off x="5577840" y="1737360"/>
            <a:ext cx="2103120" cy="594360"/>
          </a:xfrm>
          <a:prstGeom prst="rect">
            <a:avLst/>
          </a:prstGeom>
          <a:noFill/>
        </p:spPr>
        <p:txBody>
          <a:bodyPr wrap="square">
            <a:spAutoFit/>
          </a:bodyPr>
          <a:lstStyle/>
          <a:p>
            <a:pPr algn="ctr"/>
            <a:r>
              <a:rPr sz="850" b="0" i="0">
                <a:solidFill>
                  <a:srgbClr val="94A3B8"/>
                </a:solidFill>
                <a:latin typeface="Segoe UI"/>
              </a:rPr>
              <a:t>Nmap / Socket ile port taraması
MAC adresini ARP'tan çeker.</a:t>
            </a:r>
          </a:p>
        </p:txBody>
      </p:sp>
      <p:sp>
        <p:nvSpPr>
          <p:cNvPr id="14" name="Rectangle 13"/>
          <p:cNvSpPr/>
          <p:nvPr/>
        </p:nvSpPr>
        <p:spPr>
          <a:xfrm>
            <a:off x="8046720" y="1005840"/>
            <a:ext cx="2286000" cy="13716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1097280"/>
            <a:ext cx="2103120" cy="640080"/>
          </a:xfrm>
          <a:prstGeom prst="rect">
            <a:avLst/>
          </a:prstGeom>
          <a:noFill/>
        </p:spPr>
        <p:txBody>
          <a:bodyPr wrap="square">
            <a:spAutoFit/>
          </a:bodyPr>
          <a:lstStyle/>
          <a:p>
            <a:pPr algn="ctr"/>
            <a:r>
              <a:rPr sz="1000" b="1" i="0">
                <a:solidFill>
                  <a:srgbClr val="FF2A5F"/>
                </a:solidFill>
                <a:latin typeface="Segoe UI"/>
              </a:rPr>
              <a:t>📡  Switch Locator
(switch_locator.py)</a:t>
            </a:r>
          </a:p>
        </p:txBody>
      </p:sp>
      <p:sp>
        <p:nvSpPr>
          <p:cNvPr id="16" name="TextBox 15"/>
          <p:cNvSpPr txBox="1"/>
          <p:nvPr/>
        </p:nvSpPr>
        <p:spPr>
          <a:xfrm>
            <a:off x="8138160" y="1737360"/>
            <a:ext cx="2103120" cy="594360"/>
          </a:xfrm>
          <a:prstGeom prst="rect">
            <a:avLst/>
          </a:prstGeom>
          <a:noFill/>
        </p:spPr>
        <p:txBody>
          <a:bodyPr wrap="square">
            <a:spAutoFit/>
          </a:bodyPr>
          <a:lstStyle/>
          <a:p>
            <a:pPr algn="ctr"/>
            <a:r>
              <a:rPr sz="850" b="0" i="0">
                <a:solidFill>
                  <a:srgbClr val="94A3B8"/>
                </a:solidFill>
                <a:latin typeface="Segoe UI"/>
              </a:rPr>
              <a:t>SNMP ile MAC'ı switch'te arar,
fiziksel konum döner.</a:t>
            </a:r>
          </a:p>
        </p:txBody>
      </p:sp>
      <p:sp>
        <p:nvSpPr>
          <p:cNvPr id="17" name="Rectangle 16"/>
          <p:cNvSpPr/>
          <p:nvPr/>
        </p:nvSpPr>
        <p:spPr>
          <a:xfrm>
            <a:off x="10607040" y="1005840"/>
            <a:ext cx="2286000" cy="13716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0" y="1097280"/>
            <a:ext cx="2103120" cy="640080"/>
          </a:xfrm>
          <a:prstGeom prst="rect">
            <a:avLst/>
          </a:prstGeom>
          <a:noFill/>
        </p:spPr>
        <p:txBody>
          <a:bodyPr wrap="square">
            <a:spAutoFit/>
          </a:bodyPr>
          <a:lstStyle/>
          <a:p>
            <a:pPr algn="ctr"/>
            <a:r>
              <a:rPr sz="1000" b="1" i="0">
                <a:solidFill>
                  <a:srgbClr val="00F2FE"/>
                </a:solidFill>
                <a:latin typeface="Segoe UI"/>
              </a:rPr>
              <a:t>⚠️  Analyzer
(analyzer.py)</a:t>
            </a:r>
          </a:p>
        </p:txBody>
      </p:sp>
      <p:sp>
        <p:nvSpPr>
          <p:cNvPr id="19" name="TextBox 18"/>
          <p:cNvSpPr txBox="1"/>
          <p:nvPr/>
        </p:nvSpPr>
        <p:spPr>
          <a:xfrm>
            <a:off x="10698480" y="1737360"/>
            <a:ext cx="2103120" cy="594360"/>
          </a:xfrm>
          <a:prstGeom prst="rect">
            <a:avLst/>
          </a:prstGeom>
          <a:noFill/>
        </p:spPr>
        <p:txBody>
          <a:bodyPr wrap="square">
            <a:spAutoFit/>
          </a:bodyPr>
          <a:lstStyle/>
          <a:p>
            <a:pPr algn="ctr"/>
            <a:r>
              <a:rPr sz="850" b="0" i="0">
                <a:solidFill>
                  <a:srgbClr val="94A3B8"/>
                </a:solidFill>
                <a:latin typeface="Segoe UI"/>
              </a:rPr>
              <a:t>Açık portları zafiyet
kütüphanesiyle eşleştirir.</a:t>
            </a:r>
          </a:p>
        </p:txBody>
      </p:sp>
      <p:sp>
        <p:nvSpPr>
          <p:cNvPr id="20" name="TextBox 19"/>
          <p:cNvSpPr txBox="1"/>
          <p:nvPr/>
        </p:nvSpPr>
        <p:spPr>
          <a:xfrm>
            <a:off x="2697479" y="1417320"/>
            <a:ext cx="548640" cy="457200"/>
          </a:xfrm>
          <a:prstGeom prst="rect">
            <a:avLst/>
          </a:prstGeom>
          <a:noFill/>
        </p:spPr>
        <p:txBody>
          <a:bodyPr wrap="square">
            <a:spAutoFit/>
          </a:bodyPr>
          <a:lstStyle/>
          <a:p>
            <a:pPr algn="ctr"/>
            <a:r>
              <a:rPr sz="2000" b="1" i="0">
                <a:solidFill>
                  <a:srgbClr val="00F2FE"/>
                </a:solidFill>
                <a:latin typeface="Segoe UI"/>
              </a:rPr>
              <a:t>→</a:t>
            </a:r>
          </a:p>
        </p:txBody>
      </p:sp>
      <p:sp>
        <p:nvSpPr>
          <p:cNvPr id="21" name="TextBox 20"/>
          <p:cNvSpPr txBox="1"/>
          <p:nvPr/>
        </p:nvSpPr>
        <p:spPr>
          <a:xfrm>
            <a:off x="5257800" y="1417320"/>
            <a:ext cx="548640" cy="457200"/>
          </a:xfrm>
          <a:prstGeom prst="rect">
            <a:avLst/>
          </a:prstGeom>
          <a:noFill/>
        </p:spPr>
        <p:txBody>
          <a:bodyPr wrap="square">
            <a:spAutoFit/>
          </a:bodyPr>
          <a:lstStyle/>
          <a:p>
            <a:pPr algn="ctr"/>
            <a:r>
              <a:rPr sz="2000" b="1" i="0">
                <a:solidFill>
                  <a:srgbClr val="00F2FE"/>
                </a:solidFill>
                <a:latin typeface="Segoe UI"/>
              </a:rPr>
              <a:t>→</a:t>
            </a:r>
          </a:p>
        </p:txBody>
      </p:sp>
      <p:sp>
        <p:nvSpPr>
          <p:cNvPr id="22" name="TextBox 21"/>
          <p:cNvSpPr txBox="1"/>
          <p:nvPr/>
        </p:nvSpPr>
        <p:spPr>
          <a:xfrm>
            <a:off x="7818120" y="1417320"/>
            <a:ext cx="548640" cy="457200"/>
          </a:xfrm>
          <a:prstGeom prst="rect">
            <a:avLst/>
          </a:prstGeom>
          <a:noFill/>
        </p:spPr>
        <p:txBody>
          <a:bodyPr wrap="square">
            <a:spAutoFit/>
          </a:bodyPr>
          <a:lstStyle/>
          <a:p>
            <a:pPr algn="ctr"/>
            <a:r>
              <a:rPr sz="2000" b="1" i="0">
                <a:solidFill>
                  <a:srgbClr val="00F2FE"/>
                </a:solidFill>
                <a:latin typeface="Segoe UI"/>
              </a:rPr>
              <a:t>→</a:t>
            </a:r>
          </a:p>
        </p:txBody>
      </p:sp>
      <p:sp>
        <p:nvSpPr>
          <p:cNvPr id="23" name="TextBox 22"/>
          <p:cNvSpPr txBox="1"/>
          <p:nvPr/>
        </p:nvSpPr>
        <p:spPr>
          <a:xfrm>
            <a:off x="10378440" y="1417320"/>
            <a:ext cx="548640" cy="457200"/>
          </a:xfrm>
          <a:prstGeom prst="rect">
            <a:avLst/>
          </a:prstGeom>
          <a:noFill/>
        </p:spPr>
        <p:txBody>
          <a:bodyPr wrap="square">
            <a:spAutoFit/>
          </a:bodyPr>
          <a:lstStyle/>
          <a:p>
            <a:pPr algn="ctr"/>
            <a:r>
              <a:rPr sz="2000" b="1" i="0">
                <a:solidFill>
                  <a:srgbClr val="00F2FE"/>
                </a:solidFill>
                <a:latin typeface="Segoe UI"/>
              </a:rPr>
              <a:t>→</a:t>
            </a:r>
          </a:p>
        </p:txBody>
      </p:sp>
      <p:sp>
        <p:nvSpPr>
          <p:cNvPr id="24" name="Rectangle 23"/>
          <p:cNvSpPr/>
          <p:nvPr/>
        </p:nvSpPr>
        <p:spPr>
          <a:xfrm>
            <a:off x="0" y="2834640"/>
            <a:ext cx="12188952"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2971800"/>
            <a:ext cx="2743200" cy="1188720"/>
          </a:xfrm>
          <a:prstGeom prst="rect">
            <a:avLst/>
          </a:prstGeom>
          <a:solidFill>
            <a:srgbClr val="05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063240"/>
            <a:ext cx="2560320" cy="411480"/>
          </a:xfrm>
          <a:prstGeom prst="rect">
            <a:avLst/>
          </a:prstGeom>
          <a:noFill/>
        </p:spPr>
        <p:txBody>
          <a:bodyPr wrap="square">
            <a:spAutoFit/>
          </a:bodyPr>
          <a:lstStyle/>
          <a:p>
            <a:pPr algn="l"/>
            <a:r>
              <a:rPr sz="1100" b="1" i="0">
                <a:solidFill>
                  <a:srgbClr val="00E676"/>
                </a:solidFill>
                <a:latin typeface="Segoe UI"/>
              </a:rPr>
              <a:t>🗄️  database.py</a:t>
            </a:r>
          </a:p>
        </p:txBody>
      </p:sp>
      <p:sp>
        <p:nvSpPr>
          <p:cNvPr id="27" name="TextBox 26"/>
          <p:cNvSpPr txBox="1"/>
          <p:nvPr/>
        </p:nvSpPr>
        <p:spPr>
          <a:xfrm>
            <a:off x="457200" y="3474720"/>
            <a:ext cx="2560320" cy="640080"/>
          </a:xfrm>
          <a:prstGeom prst="rect">
            <a:avLst/>
          </a:prstGeom>
          <a:noFill/>
        </p:spPr>
        <p:txBody>
          <a:bodyPr wrap="square">
            <a:spAutoFit/>
          </a:bodyPr>
          <a:lstStyle/>
          <a:p>
            <a:pPr algn="l"/>
            <a:r>
              <a:rPr sz="950" b="0" i="0">
                <a:solidFill>
                  <a:srgbClr val="94A3B8"/>
                </a:solidFill>
                <a:latin typeface="Segoe UI"/>
              </a:rPr>
              <a:t>Her tarama sonucu SQLite'a
tarih damgasıyla kaydedilir.</a:t>
            </a:r>
          </a:p>
        </p:txBody>
      </p:sp>
      <p:sp>
        <p:nvSpPr>
          <p:cNvPr id="28" name="Rectangle 27"/>
          <p:cNvSpPr/>
          <p:nvPr/>
        </p:nvSpPr>
        <p:spPr>
          <a:xfrm>
            <a:off x="3337560" y="2971800"/>
            <a:ext cx="2743200" cy="1188720"/>
          </a:xfrm>
          <a:prstGeom prst="rect">
            <a:avLst/>
          </a:prstGeom>
          <a:solidFill>
            <a:srgbClr val="05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29000" y="3063240"/>
            <a:ext cx="2560320" cy="411480"/>
          </a:xfrm>
          <a:prstGeom prst="rect">
            <a:avLst/>
          </a:prstGeom>
          <a:noFill/>
        </p:spPr>
        <p:txBody>
          <a:bodyPr wrap="square">
            <a:spAutoFit/>
          </a:bodyPr>
          <a:lstStyle/>
          <a:p>
            <a:pPr algn="l"/>
            <a:r>
              <a:rPr sz="1100" b="1" i="0">
                <a:solidFill>
                  <a:srgbClr val="00E676"/>
                </a:solidFill>
                <a:latin typeface="Segoe UI"/>
              </a:rPr>
              <a:t>📄  reporter.py</a:t>
            </a:r>
          </a:p>
        </p:txBody>
      </p:sp>
      <p:sp>
        <p:nvSpPr>
          <p:cNvPr id="30" name="TextBox 29"/>
          <p:cNvSpPr txBox="1"/>
          <p:nvPr/>
        </p:nvSpPr>
        <p:spPr>
          <a:xfrm>
            <a:off x="3429000" y="3474720"/>
            <a:ext cx="2560320" cy="640080"/>
          </a:xfrm>
          <a:prstGeom prst="rect">
            <a:avLst/>
          </a:prstGeom>
          <a:noFill/>
        </p:spPr>
        <p:txBody>
          <a:bodyPr wrap="square">
            <a:spAutoFit/>
          </a:bodyPr>
          <a:lstStyle/>
          <a:p>
            <a:pPr algn="l"/>
            <a:r>
              <a:rPr sz="950" b="0" i="0">
                <a:solidFill>
                  <a:srgbClr val="94A3B8"/>
                </a:solidFill>
                <a:latin typeface="Segoe UI"/>
              </a:rPr>
              <a:t>Bulgular .TXT formatında
detaylı rapor olarak dışa aktarılır.</a:t>
            </a:r>
          </a:p>
        </p:txBody>
      </p:sp>
      <p:sp>
        <p:nvSpPr>
          <p:cNvPr id="31" name="Rectangle 30"/>
          <p:cNvSpPr/>
          <p:nvPr/>
        </p:nvSpPr>
        <p:spPr>
          <a:xfrm>
            <a:off x="6309360" y="2971800"/>
            <a:ext cx="2743200" cy="1188720"/>
          </a:xfrm>
          <a:prstGeom prst="rect">
            <a:avLst/>
          </a:prstGeom>
          <a:solidFill>
            <a:srgbClr val="05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3063240"/>
            <a:ext cx="2560320" cy="411480"/>
          </a:xfrm>
          <a:prstGeom prst="rect">
            <a:avLst/>
          </a:prstGeom>
          <a:noFill/>
        </p:spPr>
        <p:txBody>
          <a:bodyPr wrap="square">
            <a:spAutoFit/>
          </a:bodyPr>
          <a:lstStyle/>
          <a:p>
            <a:pPr algn="l"/>
            <a:r>
              <a:rPr sz="1100" b="1" i="0">
                <a:solidFill>
                  <a:srgbClr val="00E676"/>
                </a:solidFill>
                <a:latin typeface="Segoe UI"/>
              </a:rPr>
              <a:t>🔐  .env dosyası</a:t>
            </a:r>
          </a:p>
        </p:txBody>
      </p:sp>
      <p:sp>
        <p:nvSpPr>
          <p:cNvPr id="33" name="TextBox 32"/>
          <p:cNvSpPr txBox="1"/>
          <p:nvPr/>
        </p:nvSpPr>
        <p:spPr>
          <a:xfrm>
            <a:off x="6400800" y="3474720"/>
            <a:ext cx="2560320" cy="640080"/>
          </a:xfrm>
          <a:prstGeom prst="rect">
            <a:avLst/>
          </a:prstGeom>
          <a:noFill/>
        </p:spPr>
        <p:txBody>
          <a:bodyPr wrap="square">
            <a:spAutoFit/>
          </a:bodyPr>
          <a:lstStyle/>
          <a:p>
            <a:pPr algn="l"/>
            <a:r>
              <a:rPr sz="950" b="0" i="0">
                <a:solidFill>
                  <a:srgbClr val="94A3B8"/>
                </a:solidFill>
                <a:latin typeface="Segoe UI"/>
              </a:rPr>
              <a:t>Şifreler ve gizli anahtarlar
kod dışında saklanır.</a:t>
            </a:r>
          </a:p>
        </p:txBody>
      </p:sp>
      <p:sp>
        <p:nvSpPr>
          <p:cNvPr id="34" name="Rectangle 33"/>
          <p:cNvSpPr/>
          <p:nvPr/>
        </p:nvSpPr>
        <p:spPr>
          <a:xfrm>
            <a:off x="9281160" y="2971800"/>
            <a:ext cx="2743200" cy="1188720"/>
          </a:xfrm>
          <a:prstGeom prst="rect">
            <a:avLst/>
          </a:prstGeom>
          <a:solidFill>
            <a:srgbClr val="05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72600" y="3063240"/>
            <a:ext cx="2560320" cy="411480"/>
          </a:xfrm>
          <a:prstGeom prst="rect">
            <a:avLst/>
          </a:prstGeom>
          <a:noFill/>
        </p:spPr>
        <p:txBody>
          <a:bodyPr wrap="square">
            <a:spAutoFit/>
          </a:bodyPr>
          <a:lstStyle/>
          <a:p>
            <a:pPr algn="l"/>
            <a:r>
              <a:rPr sz="1100" b="1" i="0">
                <a:solidFill>
                  <a:srgbClr val="00E676"/>
                </a:solidFill>
                <a:latin typeface="Segoe UI"/>
              </a:rPr>
              <a:t>📋  Geçmiş Panel</a:t>
            </a:r>
          </a:p>
        </p:txBody>
      </p:sp>
      <p:sp>
        <p:nvSpPr>
          <p:cNvPr id="36" name="TextBox 35"/>
          <p:cNvSpPr txBox="1"/>
          <p:nvPr/>
        </p:nvSpPr>
        <p:spPr>
          <a:xfrm>
            <a:off x="9372600" y="3474720"/>
            <a:ext cx="2560320" cy="640080"/>
          </a:xfrm>
          <a:prstGeom prst="rect">
            <a:avLst/>
          </a:prstGeom>
          <a:noFill/>
        </p:spPr>
        <p:txBody>
          <a:bodyPr wrap="square">
            <a:spAutoFit/>
          </a:bodyPr>
          <a:lstStyle/>
          <a:p>
            <a:pPr algn="l"/>
            <a:r>
              <a:rPr sz="950" b="0" i="0">
                <a:solidFill>
                  <a:srgbClr val="94A3B8"/>
                </a:solidFill>
                <a:latin typeface="Segoe UI"/>
              </a:rPr>
              <a:t>/api/history üzerinden geçmiş
taramalar arayüzde gösterilir.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400" b="1" i="0">
                <a:solidFill>
                  <a:srgbClr val="FF9900"/>
                </a:solidFill>
                <a:latin typeface="Segoe UI"/>
              </a:rPr>
              <a:t>🔍  Tarama Motoru — scanner.py</a:t>
            </a:r>
          </a:p>
        </p:txBody>
      </p:sp>
      <p:sp>
        <p:nvSpPr>
          <p:cNvPr id="5" name="Rectangle 4"/>
          <p:cNvSpPr/>
          <p:nvPr/>
        </p:nvSpPr>
        <p:spPr>
          <a:xfrm>
            <a:off x="274320" y="914400"/>
            <a:ext cx="5486400"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5120640" cy="457200"/>
          </a:xfrm>
          <a:prstGeom prst="rect">
            <a:avLst/>
          </a:prstGeom>
          <a:noFill/>
        </p:spPr>
        <p:txBody>
          <a:bodyPr wrap="square">
            <a:spAutoFit/>
          </a:bodyPr>
          <a:lstStyle/>
          <a:p>
            <a:pPr algn="l"/>
            <a:r>
              <a:rPr sz="1400" b="1" i="0">
                <a:solidFill>
                  <a:srgbClr val="FF9900"/>
                </a:solidFill>
                <a:latin typeface="Segoe UI"/>
              </a:rPr>
              <a:t>⚡  Socket Tarama Modu</a:t>
            </a:r>
          </a:p>
        </p:txBody>
      </p:sp>
      <p:sp>
        <p:nvSpPr>
          <p:cNvPr id="7" name="TextBox 6"/>
          <p:cNvSpPr txBox="1"/>
          <p:nvPr/>
        </p:nvSpPr>
        <p:spPr>
          <a:xfrm>
            <a:off x="457200" y="1554480"/>
            <a:ext cx="5120640" cy="4572000"/>
          </a:xfrm>
          <a:prstGeom prst="rect">
            <a:avLst/>
          </a:prstGeom>
          <a:noFill/>
        </p:spPr>
        <p:txBody>
          <a:bodyPr wrap="square">
            <a:spAutoFit/>
          </a:bodyPr>
          <a:lstStyle/>
          <a:p>
            <a:pPr algn="l"/>
            <a:r>
              <a:rPr sz="1050" b="0" i="0">
                <a:solidFill>
                  <a:srgbClr val="FFFFFF"/>
                </a:solidFill>
                <a:latin typeface="Segoe UI"/>
              </a:rPr>
              <a:t>Belirli bir IP adresi için tek cihaz taraması yapar.
✅  Multithreading (ThreadPoolExecutor)
      10 port eş zamanlı taranır → Çok daha hızlı!
✅  Banner Grabbing
      Açık portlardaki servislerin imzası okunur.
      (Örn: SSH-2.0-OpenSSH_8.9, HTTP/1.1 200 OK)
✅  Taranan Kritik Portlar:
      21 FTP  |  22 SSH  |  23 Telnet
      80 HTTP |  104 DICOM/PACS
      135 RPC |  139 NetBIOS
      445 SMB |  3389 RDP
      8080 HTTP-Proxy  |  9100 RAW-Printer</a:t>
            </a:r>
          </a:p>
        </p:txBody>
      </p:sp>
      <p:sp>
        <p:nvSpPr>
          <p:cNvPr id="8" name="Rectangle 7"/>
          <p:cNvSpPr/>
          <p:nvPr/>
        </p:nvSpPr>
        <p:spPr>
          <a:xfrm>
            <a:off x="6126480" y="914400"/>
            <a:ext cx="5760720"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005840"/>
            <a:ext cx="5394960" cy="457200"/>
          </a:xfrm>
          <a:prstGeom prst="rect">
            <a:avLst/>
          </a:prstGeom>
          <a:noFill/>
        </p:spPr>
        <p:txBody>
          <a:bodyPr wrap="square">
            <a:spAutoFit/>
          </a:bodyPr>
          <a:lstStyle/>
          <a:p>
            <a:pPr algn="l"/>
            <a:r>
              <a:rPr sz="1400" b="1" i="0">
                <a:solidFill>
                  <a:srgbClr val="00F2FE"/>
                </a:solidFill>
                <a:latin typeface="Segoe UI"/>
              </a:rPr>
              <a:t>🌐  Nmap Subnet Tarama Modu</a:t>
            </a:r>
          </a:p>
        </p:txBody>
      </p:sp>
      <p:sp>
        <p:nvSpPr>
          <p:cNvPr id="10" name="TextBox 9"/>
          <p:cNvSpPr txBox="1"/>
          <p:nvPr/>
        </p:nvSpPr>
        <p:spPr>
          <a:xfrm>
            <a:off x="6309360" y="1554480"/>
            <a:ext cx="5394960" cy="4572000"/>
          </a:xfrm>
          <a:prstGeom prst="rect">
            <a:avLst/>
          </a:prstGeom>
          <a:noFill/>
        </p:spPr>
        <p:txBody>
          <a:bodyPr wrap="square">
            <a:spAutoFit/>
          </a:bodyPr>
          <a:lstStyle/>
          <a:p>
            <a:pPr algn="l"/>
            <a:r>
              <a:rPr sz="1050" b="0" i="0">
                <a:solidFill>
                  <a:srgbClr val="FFFFFF"/>
                </a:solidFill>
                <a:latin typeface="Segoe UI"/>
              </a:rPr>
              <a:t>Tüm bir subnet'i (Örn: 192.168.1.0/24) tarar.
✅  Servis &amp; Versiyon Tespiti (-sV)
      Hangi yazılım, hangi versiyonda çalışıyor?
✅  Hızlı Tarama Argümanları:
      -T5  → En hızlı mod
      -n   → DNS çözümleme yok (daha hızlı)
      --max-retries 0  → Tekrar deneme yok
      --min-rate 1000  → Minimum paket hızı
✅  ARP Tablosundan MAC Tespiti
      Her bulunan cihazın MAC adresi okunur.
✅  Asenkron Çalışma (Threading)
      Tarama arka planda yürür, arayüz donmaz.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F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400" b="1" i="0">
                <a:solidFill>
                  <a:srgbClr val="FF2A5F"/>
                </a:solidFill>
                <a:latin typeface="Segoe UI"/>
              </a:rPr>
              <a:t>⚠️  Risk Analiz Motoru — analyzer.py</a:t>
            </a:r>
          </a:p>
        </p:txBody>
      </p:sp>
      <p:sp>
        <p:nvSpPr>
          <p:cNvPr id="5" name="TextBox 4"/>
          <p:cNvSpPr txBox="1"/>
          <p:nvPr/>
        </p:nvSpPr>
        <p:spPr>
          <a:xfrm>
            <a:off x="365760" y="822960"/>
            <a:ext cx="11430000" cy="457200"/>
          </a:xfrm>
          <a:prstGeom prst="rect">
            <a:avLst/>
          </a:prstGeom>
          <a:noFill/>
        </p:spPr>
        <p:txBody>
          <a:bodyPr wrap="square">
            <a:spAutoFit/>
          </a:bodyPr>
          <a:lstStyle/>
          <a:p>
            <a:pPr algn="l"/>
            <a:r>
              <a:rPr sz="1100" b="0" i="1">
                <a:solidFill>
                  <a:srgbClr val="94A3B8"/>
                </a:solidFill>
                <a:latin typeface="Segoe UI"/>
              </a:rPr>
              <a:t>Tarayıcıdan gelen açık portlar, yerleşik zafiyet kütüphanesiyle eşleştirilir ve risk seviyesi belirlenir.</a:t>
            </a:r>
          </a:p>
        </p:txBody>
      </p:sp>
      <p:sp>
        <p:nvSpPr>
          <p:cNvPr id="6" name="Rectangle 5"/>
          <p:cNvSpPr/>
          <p:nvPr/>
        </p:nvSpPr>
        <p:spPr>
          <a:xfrm>
            <a:off x="274320" y="1463040"/>
            <a:ext cx="2834640" cy="50292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2834640" cy="502920"/>
          </a:xfrm>
          <a:prstGeom prst="rect">
            <a:avLst/>
          </a:prstGeom>
          <a:solidFill>
            <a:srgbClr val="F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81328"/>
            <a:ext cx="2651760" cy="411480"/>
          </a:xfrm>
          <a:prstGeom prst="rect">
            <a:avLst/>
          </a:prstGeom>
          <a:noFill/>
        </p:spPr>
        <p:txBody>
          <a:bodyPr wrap="square">
            <a:spAutoFit/>
          </a:bodyPr>
          <a:lstStyle/>
          <a:p>
            <a:pPr algn="ctr"/>
            <a:r>
              <a:rPr sz="1100" b="1" i="0">
                <a:solidFill>
                  <a:srgbClr val="080C14"/>
                </a:solidFill>
                <a:latin typeface="Segoe UI"/>
              </a:rPr>
              <a:t>🔴  KRİTİK RİSK</a:t>
            </a:r>
          </a:p>
        </p:txBody>
      </p:sp>
      <p:sp>
        <p:nvSpPr>
          <p:cNvPr id="9" name="TextBox 8"/>
          <p:cNvSpPr txBox="1"/>
          <p:nvPr/>
        </p:nvSpPr>
        <p:spPr>
          <a:xfrm>
            <a:off x="365760" y="2057400"/>
            <a:ext cx="2651760" cy="320040"/>
          </a:xfrm>
          <a:prstGeom prst="rect">
            <a:avLst/>
          </a:prstGeom>
          <a:noFill/>
        </p:spPr>
        <p:txBody>
          <a:bodyPr wrap="square">
            <a:spAutoFit/>
          </a:bodyPr>
          <a:lstStyle/>
          <a:p>
            <a:pPr algn="l"/>
            <a:r>
              <a:rPr sz="950" b="1" i="0">
                <a:solidFill>
                  <a:srgbClr val="FF2A5F"/>
                </a:solidFill>
                <a:latin typeface="Segoe UI"/>
              </a:rPr>
              <a:t>İlgili Portlar:</a:t>
            </a:r>
          </a:p>
        </p:txBody>
      </p:sp>
      <p:sp>
        <p:nvSpPr>
          <p:cNvPr id="10" name="TextBox 9"/>
          <p:cNvSpPr txBox="1"/>
          <p:nvPr/>
        </p:nvSpPr>
        <p:spPr>
          <a:xfrm>
            <a:off x="365760" y="2395728"/>
            <a:ext cx="2651760" cy="914400"/>
          </a:xfrm>
          <a:prstGeom prst="rect">
            <a:avLst/>
          </a:prstGeom>
          <a:noFill/>
        </p:spPr>
        <p:txBody>
          <a:bodyPr wrap="square">
            <a:spAutoFit/>
          </a:bodyPr>
          <a:lstStyle/>
          <a:p>
            <a:pPr algn="l"/>
            <a:r>
              <a:rPr sz="1050" b="1" i="0">
                <a:solidFill>
                  <a:srgbClr val="FFFFFF"/>
                </a:solidFill>
                <a:latin typeface="Segoe UI"/>
              </a:rPr>
              <a:t>Port 23 – Telnet
Port 445 – SMBv1</a:t>
            </a:r>
          </a:p>
        </p:txBody>
      </p:sp>
      <p:sp>
        <p:nvSpPr>
          <p:cNvPr id="11" name="TextBox 10"/>
          <p:cNvSpPr txBox="1"/>
          <p:nvPr/>
        </p:nvSpPr>
        <p:spPr>
          <a:xfrm>
            <a:off x="365760" y="3383280"/>
            <a:ext cx="2651760" cy="320040"/>
          </a:xfrm>
          <a:prstGeom prst="rect">
            <a:avLst/>
          </a:prstGeom>
          <a:noFill/>
        </p:spPr>
        <p:txBody>
          <a:bodyPr wrap="square">
            <a:spAutoFit/>
          </a:bodyPr>
          <a:lstStyle/>
          <a:p>
            <a:pPr algn="l"/>
            <a:r>
              <a:rPr sz="950" b="1" i="0">
                <a:solidFill>
                  <a:srgbClr val="FF2A5F"/>
                </a:solidFill>
                <a:latin typeface="Segoe UI"/>
              </a:rPr>
              <a:t>Risk Açıklaması:</a:t>
            </a:r>
          </a:p>
        </p:txBody>
      </p:sp>
      <p:sp>
        <p:nvSpPr>
          <p:cNvPr id="12" name="TextBox 11"/>
          <p:cNvSpPr txBox="1"/>
          <p:nvPr/>
        </p:nvSpPr>
        <p:spPr>
          <a:xfrm>
            <a:off x="365760" y="3730752"/>
            <a:ext cx="2651760" cy="2560320"/>
          </a:xfrm>
          <a:prstGeom prst="rect">
            <a:avLst/>
          </a:prstGeom>
          <a:noFill/>
        </p:spPr>
        <p:txBody>
          <a:bodyPr wrap="square">
            <a:spAutoFit/>
          </a:bodyPr>
          <a:lstStyle/>
          <a:p>
            <a:pPr algn="l"/>
            <a:r>
              <a:rPr sz="1000" b="0" i="0">
                <a:solidFill>
                  <a:srgbClr val="94A3B8"/>
                </a:solidFill>
                <a:latin typeface="Segoe UI"/>
              </a:rPr>
              <a:t>Açık metin veri iletimi / WannaCry fidye yazılımı vektörü.
Acilen kapatılmalı.</a:t>
            </a:r>
          </a:p>
        </p:txBody>
      </p:sp>
      <p:sp>
        <p:nvSpPr>
          <p:cNvPr id="13" name="Rectangle 12"/>
          <p:cNvSpPr/>
          <p:nvPr/>
        </p:nvSpPr>
        <p:spPr>
          <a:xfrm>
            <a:off x="3246120" y="1463040"/>
            <a:ext cx="2834640" cy="50292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463040"/>
            <a:ext cx="2834640" cy="5029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481328"/>
            <a:ext cx="2651760" cy="411480"/>
          </a:xfrm>
          <a:prstGeom prst="rect">
            <a:avLst/>
          </a:prstGeom>
          <a:noFill/>
        </p:spPr>
        <p:txBody>
          <a:bodyPr wrap="square">
            <a:spAutoFit/>
          </a:bodyPr>
          <a:lstStyle/>
          <a:p>
            <a:pPr algn="ctr"/>
            <a:r>
              <a:rPr sz="1100" b="1" i="0">
                <a:solidFill>
                  <a:srgbClr val="080C14"/>
                </a:solidFill>
                <a:latin typeface="Segoe UI"/>
              </a:rPr>
              <a:t>🟠  YÜKSEK RİSK</a:t>
            </a:r>
          </a:p>
        </p:txBody>
      </p:sp>
      <p:sp>
        <p:nvSpPr>
          <p:cNvPr id="16" name="TextBox 15"/>
          <p:cNvSpPr txBox="1"/>
          <p:nvPr/>
        </p:nvSpPr>
        <p:spPr>
          <a:xfrm>
            <a:off x="3337560" y="2057400"/>
            <a:ext cx="2651760" cy="320040"/>
          </a:xfrm>
          <a:prstGeom prst="rect">
            <a:avLst/>
          </a:prstGeom>
          <a:noFill/>
        </p:spPr>
        <p:txBody>
          <a:bodyPr wrap="square">
            <a:spAutoFit/>
          </a:bodyPr>
          <a:lstStyle/>
          <a:p>
            <a:pPr algn="l"/>
            <a:r>
              <a:rPr sz="950" b="1" i="0">
                <a:solidFill>
                  <a:srgbClr val="FF9900"/>
                </a:solidFill>
                <a:latin typeface="Segoe UI"/>
              </a:rPr>
              <a:t>İlgili Portlar:</a:t>
            </a:r>
          </a:p>
        </p:txBody>
      </p:sp>
      <p:sp>
        <p:nvSpPr>
          <p:cNvPr id="17" name="TextBox 16"/>
          <p:cNvSpPr txBox="1"/>
          <p:nvPr/>
        </p:nvSpPr>
        <p:spPr>
          <a:xfrm>
            <a:off x="3337560" y="2395728"/>
            <a:ext cx="2651760" cy="914400"/>
          </a:xfrm>
          <a:prstGeom prst="rect">
            <a:avLst/>
          </a:prstGeom>
          <a:noFill/>
        </p:spPr>
        <p:txBody>
          <a:bodyPr wrap="square">
            <a:spAutoFit/>
          </a:bodyPr>
          <a:lstStyle/>
          <a:p>
            <a:pPr algn="l"/>
            <a:r>
              <a:rPr sz="1050" b="1" i="0">
                <a:solidFill>
                  <a:srgbClr val="FFFFFF"/>
                </a:solidFill>
                <a:latin typeface="Segoe UI"/>
              </a:rPr>
              <a:t>Port 104 – DICOM/PACS
Port 3389 – RDP</a:t>
            </a:r>
          </a:p>
        </p:txBody>
      </p:sp>
      <p:sp>
        <p:nvSpPr>
          <p:cNvPr id="18" name="TextBox 17"/>
          <p:cNvSpPr txBox="1"/>
          <p:nvPr/>
        </p:nvSpPr>
        <p:spPr>
          <a:xfrm>
            <a:off x="3337560" y="3383280"/>
            <a:ext cx="2651760" cy="320040"/>
          </a:xfrm>
          <a:prstGeom prst="rect">
            <a:avLst/>
          </a:prstGeom>
          <a:noFill/>
        </p:spPr>
        <p:txBody>
          <a:bodyPr wrap="square">
            <a:spAutoFit/>
          </a:bodyPr>
          <a:lstStyle/>
          <a:p>
            <a:pPr algn="l"/>
            <a:r>
              <a:rPr sz="950" b="1" i="0">
                <a:solidFill>
                  <a:srgbClr val="FF9900"/>
                </a:solidFill>
                <a:latin typeface="Segoe UI"/>
              </a:rPr>
              <a:t>Risk Açıklaması:</a:t>
            </a:r>
          </a:p>
        </p:txBody>
      </p:sp>
      <p:sp>
        <p:nvSpPr>
          <p:cNvPr id="19" name="TextBox 18"/>
          <p:cNvSpPr txBox="1"/>
          <p:nvPr/>
        </p:nvSpPr>
        <p:spPr>
          <a:xfrm>
            <a:off x="3337560" y="3730752"/>
            <a:ext cx="2651760" cy="2560320"/>
          </a:xfrm>
          <a:prstGeom prst="rect">
            <a:avLst/>
          </a:prstGeom>
          <a:noFill/>
        </p:spPr>
        <p:txBody>
          <a:bodyPr wrap="square">
            <a:spAutoFit/>
          </a:bodyPr>
          <a:lstStyle/>
          <a:p>
            <a:pPr algn="l"/>
            <a:r>
              <a:rPr sz="1000" b="0" i="0">
                <a:solidFill>
                  <a:srgbClr val="94A3B8"/>
                </a:solidFill>
                <a:latin typeface="Segoe UI"/>
              </a:rPr>
              <a:t>Hasta görüntü verisi sızma riski /
Brute-Force parola kırma hedefi.</a:t>
            </a:r>
          </a:p>
        </p:txBody>
      </p:sp>
      <p:sp>
        <p:nvSpPr>
          <p:cNvPr id="20" name="Rectangle 19"/>
          <p:cNvSpPr/>
          <p:nvPr/>
        </p:nvSpPr>
        <p:spPr>
          <a:xfrm>
            <a:off x="6217920" y="1463040"/>
            <a:ext cx="2834640" cy="50292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463040"/>
            <a:ext cx="2834640" cy="5029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59" y="1481328"/>
            <a:ext cx="2651760" cy="411480"/>
          </a:xfrm>
          <a:prstGeom prst="rect">
            <a:avLst/>
          </a:prstGeom>
          <a:noFill/>
        </p:spPr>
        <p:txBody>
          <a:bodyPr wrap="square">
            <a:spAutoFit/>
          </a:bodyPr>
          <a:lstStyle/>
          <a:p>
            <a:pPr algn="ctr"/>
            <a:r>
              <a:rPr sz="1100" b="1" i="0">
                <a:solidFill>
                  <a:srgbClr val="080C14"/>
                </a:solidFill>
                <a:latin typeface="Segoe UI"/>
              </a:rPr>
              <a:t>🟡  ORTA RİSK</a:t>
            </a:r>
          </a:p>
        </p:txBody>
      </p:sp>
      <p:sp>
        <p:nvSpPr>
          <p:cNvPr id="23" name="TextBox 22"/>
          <p:cNvSpPr txBox="1"/>
          <p:nvPr/>
        </p:nvSpPr>
        <p:spPr>
          <a:xfrm>
            <a:off x="6309359" y="2057400"/>
            <a:ext cx="2651760" cy="320040"/>
          </a:xfrm>
          <a:prstGeom prst="rect">
            <a:avLst/>
          </a:prstGeom>
          <a:noFill/>
        </p:spPr>
        <p:txBody>
          <a:bodyPr wrap="square">
            <a:spAutoFit/>
          </a:bodyPr>
          <a:lstStyle/>
          <a:p>
            <a:pPr algn="l"/>
            <a:r>
              <a:rPr sz="950" b="1" i="0">
                <a:solidFill>
                  <a:srgbClr val="FFD200"/>
                </a:solidFill>
                <a:latin typeface="Segoe UI"/>
              </a:rPr>
              <a:t>İlgili Portlar:</a:t>
            </a:r>
          </a:p>
        </p:txBody>
      </p:sp>
      <p:sp>
        <p:nvSpPr>
          <p:cNvPr id="24" name="TextBox 23"/>
          <p:cNvSpPr txBox="1"/>
          <p:nvPr/>
        </p:nvSpPr>
        <p:spPr>
          <a:xfrm>
            <a:off x="6309359" y="2395728"/>
            <a:ext cx="2651760" cy="914400"/>
          </a:xfrm>
          <a:prstGeom prst="rect">
            <a:avLst/>
          </a:prstGeom>
          <a:noFill/>
        </p:spPr>
        <p:txBody>
          <a:bodyPr wrap="square">
            <a:spAutoFit/>
          </a:bodyPr>
          <a:lstStyle/>
          <a:p>
            <a:pPr algn="l"/>
            <a:r>
              <a:rPr sz="1050" b="1" i="0">
                <a:solidFill>
                  <a:srgbClr val="FFFFFF"/>
                </a:solidFill>
                <a:latin typeface="Segoe UI"/>
              </a:rPr>
              <a:t>Port 21 – FTP
Port 135 – RPC
Port 139 – NetBIOS</a:t>
            </a:r>
          </a:p>
        </p:txBody>
      </p:sp>
      <p:sp>
        <p:nvSpPr>
          <p:cNvPr id="25" name="TextBox 24"/>
          <p:cNvSpPr txBox="1"/>
          <p:nvPr/>
        </p:nvSpPr>
        <p:spPr>
          <a:xfrm>
            <a:off x="6309359" y="3383280"/>
            <a:ext cx="2651760" cy="320040"/>
          </a:xfrm>
          <a:prstGeom prst="rect">
            <a:avLst/>
          </a:prstGeom>
          <a:noFill/>
        </p:spPr>
        <p:txBody>
          <a:bodyPr wrap="square">
            <a:spAutoFit/>
          </a:bodyPr>
          <a:lstStyle/>
          <a:p>
            <a:pPr algn="l"/>
            <a:r>
              <a:rPr sz="950" b="1" i="0">
                <a:solidFill>
                  <a:srgbClr val="FFD200"/>
                </a:solidFill>
                <a:latin typeface="Segoe UI"/>
              </a:rPr>
              <a:t>Risk Açıklaması:</a:t>
            </a:r>
          </a:p>
        </p:txBody>
      </p:sp>
      <p:sp>
        <p:nvSpPr>
          <p:cNvPr id="26" name="TextBox 25"/>
          <p:cNvSpPr txBox="1"/>
          <p:nvPr/>
        </p:nvSpPr>
        <p:spPr>
          <a:xfrm>
            <a:off x="6309359" y="3730752"/>
            <a:ext cx="2651760" cy="2560320"/>
          </a:xfrm>
          <a:prstGeom prst="rect">
            <a:avLst/>
          </a:prstGeom>
          <a:noFill/>
        </p:spPr>
        <p:txBody>
          <a:bodyPr wrap="square">
            <a:spAutoFit/>
          </a:bodyPr>
          <a:lstStyle/>
          <a:p>
            <a:pPr algn="l"/>
            <a:r>
              <a:rPr sz="1000" b="0" i="0">
                <a:solidFill>
                  <a:srgbClr val="94A3B8"/>
                </a:solidFill>
                <a:latin typeface="Segoe UI"/>
              </a:rPr>
              <a:t>Şifresiz transfer / yetkisiz prosedür
çağrıları / ağ keşfi riski.</a:t>
            </a:r>
          </a:p>
        </p:txBody>
      </p:sp>
      <p:sp>
        <p:nvSpPr>
          <p:cNvPr id="27" name="Rectangle 26"/>
          <p:cNvSpPr/>
          <p:nvPr/>
        </p:nvSpPr>
        <p:spPr>
          <a:xfrm>
            <a:off x="9189720" y="1463040"/>
            <a:ext cx="2834640" cy="50292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89720" y="1463040"/>
            <a:ext cx="2834640" cy="50292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481328"/>
            <a:ext cx="2651760" cy="411480"/>
          </a:xfrm>
          <a:prstGeom prst="rect">
            <a:avLst/>
          </a:prstGeom>
          <a:noFill/>
        </p:spPr>
        <p:txBody>
          <a:bodyPr wrap="square">
            <a:spAutoFit/>
          </a:bodyPr>
          <a:lstStyle/>
          <a:p>
            <a:pPr algn="ctr"/>
            <a:r>
              <a:rPr sz="1100" b="1" i="0">
                <a:solidFill>
                  <a:srgbClr val="080C14"/>
                </a:solidFill>
                <a:latin typeface="Segoe UI"/>
              </a:rPr>
              <a:t>🟢  DÜŞÜK RİSK</a:t>
            </a:r>
          </a:p>
        </p:txBody>
      </p:sp>
      <p:sp>
        <p:nvSpPr>
          <p:cNvPr id="30" name="TextBox 29"/>
          <p:cNvSpPr txBox="1"/>
          <p:nvPr/>
        </p:nvSpPr>
        <p:spPr>
          <a:xfrm>
            <a:off x="9281160" y="2057400"/>
            <a:ext cx="2651760" cy="320040"/>
          </a:xfrm>
          <a:prstGeom prst="rect">
            <a:avLst/>
          </a:prstGeom>
          <a:noFill/>
        </p:spPr>
        <p:txBody>
          <a:bodyPr wrap="square">
            <a:spAutoFit/>
          </a:bodyPr>
          <a:lstStyle/>
          <a:p>
            <a:pPr algn="l"/>
            <a:r>
              <a:rPr sz="950" b="1" i="0">
                <a:solidFill>
                  <a:srgbClr val="00E676"/>
                </a:solidFill>
                <a:latin typeface="Segoe UI"/>
              </a:rPr>
              <a:t>İlgili Portlar:</a:t>
            </a:r>
          </a:p>
        </p:txBody>
      </p:sp>
      <p:sp>
        <p:nvSpPr>
          <p:cNvPr id="31" name="TextBox 30"/>
          <p:cNvSpPr txBox="1"/>
          <p:nvPr/>
        </p:nvSpPr>
        <p:spPr>
          <a:xfrm>
            <a:off x="9281160" y="2395728"/>
            <a:ext cx="2651760" cy="914400"/>
          </a:xfrm>
          <a:prstGeom prst="rect">
            <a:avLst/>
          </a:prstGeom>
          <a:noFill/>
        </p:spPr>
        <p:txBody>
          <a:bodyPr wrap="square">
            <a:spAutoFit/>
          </a:bodyPr>
          <a:lstStyle/>
          <a:p>
            <a:pPr algn="l"/>
            <a:r>
              <a:rPr sz="1050" b="1" i="0">
                <a:solidFill>
                  <a:srgbClr val="FFFFFF"/>
                </a:solidFill>
                <a:latin typeface="Segoe UI"/>
              </a:rPr>
              <a:t>Port 80 – HTTP
Port 8080 – Proxy
Port 9100 – Yazıcı</a:t>
            </a:r>
          </a:p>
        </p:txBody>
      </p:sp>
      <p:sp>
        <p:nvSpPr>
          <p:cNvPr id="32" name="TextBox 31"/>
          <p:cNvSpPr txBox="1"/>
          <p:nvPr/>
        </p:nvSpPr>
        <p:spPr>
          <a:xfrm>
            <a:off x="9281160" y="3383280"/>
            <a:ext cx="2651760" cy="320040"/>
          </a:xfrm>
          <a:prstGeom prst="rect">
            <a:avLst/>
          </a:prstGeom>
          <a:noFill/>
        </p:spPr>
        <p:txBody>
          <a:bodyPr wrap="square">
            <a:spAutoFit/>
          </a:bodyPr>
          <a:lstStyle/>
          <a:p>
            <a:pPr algn="l"/>
            <a:r>
              <a:rPr sz="950" b="1" i="0">
                <a:solidFill>
                  <a:srgbClr val="00E676"/>
                </a:solidFill>
                <a:latin typeface="Segoe UI"/>
              </a:rPr>
              <a:t>Risk Açıklaması:</a:t>
            </a:r>
          </a:p>
        </p:txBody>
      </p:sp>
      <p:sp>
        <p:nvSpPr>
          <p:cNvPr id="33" name="TextBox 32"/>
          <p:cNvSpPr txBox="1"/>
          <p:nvPr/>
        </p:nvSpPr>
        <p:spPr>
          <a:xfrm>
            <a:off x="9281160" y="3730752"/>
            <a:ext cx="2651760" cy="2560320"/>
          </a:xfrm>
          <a:prstGeom prst="rect">
            <a:avLst/>
          </a:prstGeom>
          <a:noFill/>
        </p:spPr>
        <p:txBody>
          <a:bodyPr wrap="square">
            <a:spAutoFit/>
          </a:bodyPr>
          <a:lstStyle/>
          <a:p>
            <a:pPr algn="l"/>
            <a:r>
              <a:rPr sz="1000" b="0" i="0">
                <a:solidFill>
                  <a:srgbClr val="94A3B8"/>
                </a:solidFill>
                <a:latin typeface="Segoe UI"/>
              </a:rPr>
              <a:t>SSL eksikliği / yetkisiz proxy
kullanımı / yetkisiz yazdırma riski.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200" b="1" i="0">
                <a:solidFill>
                  <a:srgbClr val="00F2FE"/>
                </a:solidFill>
                <a:latin typeface="Segoe UI"/>
              </a:rPr>
              <a:t>📡  SNMP ile Fiziksel Konum Tespiti — switch_locator.py</a:t>
            </a:r>
          </a:p>
        </p:txBody>
      </p:sp>
      <p:sp>
        <p:nvSpPr>
          <p:cNvPr id="5" name="Rectangle 4"/>
          <p:cNvSpPr/>
          <p:nvPr/>
        </p:nvSpPr>
        <p:spPr>
          <a:xfrm>
            <a:off x="274320" y="914400"/>
            <a:ext cx="5669280"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5303520" cy="411480"/>
          </a:xfrm>
          <a:prstGeom prst="rect">
            <a:avLst/>
          </a:prstGeom>
          <a:noFill/>
        </p:spPr>
        <p:txBody>
          <a:bodyPr wrap="square">
            <a:spAutoFit/>
          </a:bodyPr>
          <a:lstStyle/>
          <a:p>
            <a:pPr algn="l"/>
            <a:r>
              <a:rPr sz="1300" b="1" i="0">
                <a:solidFill>
                  <a:srgbClr val="00F2FE"/>
                </a:solidFill>
                <a:latin typeface="Segoe UI"/>
              </a:rPr>
              <a:t>SNMP Nedir?</a:t>
            </a:r>
          </a:p>
        </p:txBody>
      </p:sp>
      <p:sp>
        <p:nvSpPr>
          <p:cNvPr id="7" name="TextBox 6"/>
          <p:cNvSpPr txBox="1"/>
          <p:nvPr/>
        </p:nvSpPr>
        <p:spPr>
          <a:xfrm>
            <a:off x="457200" y="1508760"/>
            <a:ext cx="5303520" cy="4754880"/>
          </a:xfrm>
          <a:prstGeom prst="rect">
            <a:avLst/>
          </a:prstGeom>
          <a:noFill/>
        </p:spPr>
        <p:txBody>
          <a:bodyPr wrap="square">
            <a:spAutoFit/>
          </a:bodyPr>
          <a:lstStyle/>
          <a:p>
            <a:pPr algn="l"/>
            <a:r>
              <a:rPr sz="1050" b="0" i="0">
                <a:solidFill>
                  <a:srgbClr val="FFFFFF"/>
                </a:solidFill>
                <a:latin typeface="Segoe UI"/>
              </a:rPr>
              <a:t>SNMP (Simple Network Management Protocol) ağ
cihazlarının (switch, router) yönetilmesini ve
sorgulanmasını sağlayan standarttır.
Bu projede SNMP şu amaçla kullanıldı:
1️⃣  Scanner, bir cihazın MAC adresini ARP'tan okur.
2️⃣  MAC adresi OID formatına çevrilir:
      AA:BB:CC → 170.187.204...
3️⃣  Her switch'e SNMP GET isteği atılır:
      OID: 1.3.6.1.2.1.17.4.3.1.2
      (BRIDGE-MIB → dot1dTpFdbPort)
4️⃣  Switch hangi porta bağlı olduğunu söyler.
5️⃣  Sonuç: 'SW-Radyoloji / Port-12'
      → Fiziksel konum tespit edildi!
⚡  Timeout: 1 sn  |  Fallback: Simülasyon modu</a:t>
            </a:r>
          </a:p>
        </p:txBody>
      </p:sp>
      <p:sp>
        <p:nvSpPr>
          <p:cNvPr id="8" name="Rectangle 7"/>
          <p:cNvSpPr/>
          <p:nvPr/>
        </p:nvSpPr>
        <p:spPr>
          <a:xfrm>
            <a:off x="6217920" y="914400"/>
            <a:ext cx="5669280" cy="22860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005840"/>
            <a:ext cx="5303520" cy="365760"/>
          </a:xfrm>
          <a:prstGeom prst="rect">
            <a:avLst/>
          </a:prstGeom>
          <a:noFill/>
        </p:spPr>
        <p:txBody>
          <a:bodyPr wrap="square">
            <a:spAutoFit/>
          </a:bodyPr>
          <a:lstStyle/>
          <a:p>
            <a:pPr algn="l"/>
            <a:r>
              <a:rPr sz="1200" b="1" i="0">
                <a:solidFill>
                  <a:srgbClr val="00E676"/>
                </a:solidFill>
                <a:latin typeface="Segoe UI"/>
              </a:rPr>
              <a:t>🗂️  config/switches.json</a:t>
            </a:r>
          </a:p>
        </p:txBody>
      </p:sp>
      <p:sp>
        <p:nvSpPr>
          <p:cNvPr id="10" name="TextBox 9"/>
          <p:cNvSpPr txBox="1"/>
          <p:nvPr/>
        </p:nvSpPr>
        <p:spPr>
          <a:xfrm>
            <a:off x="6400800" y="1463040"/>
            <a:ext cx="5303520" cy="1691640"/>
          </a:xfrm>
          <a:prstGeom prst="rect">
            <a:avLst/>
          </a:prstGeom>
          <a:noFill/>
        </p:spPr>
        <p:txBody>
          <a:bodyPr wrap="square">
            <a:spAutoFit/>
          </a:bodyPr>
          <a:lstStyle/>
          <a:p>
            <a:pPr algn="l"/>
            <a:r>
              <a:rPr sz="950" b="0" i="0">
                <a:solidFill>
                  <a:srgbClr val="00E676"/>
                </a:solidFill>
                <a:latin typeface="Segoe UI"/>
              </a:rPr>
              <a:t>{
  "switches": [
    { "name": "SW-Omurga-1",
      "ip": "192.168.1.2",
      "community": "public" },
    { "name": "SW-Radyoloji",
      "ip": "192.168.2.10",
      "community": "public" }
  ]
}</a:t>
            </a:r>
          </a:p>
        </p:txBody>
      </p:sp>
      <p:sp>
        <p:nvSpPr>
          <p:cNvPr id="11" name="Rectangle 10"/>
          <p:cNvSpPr/>
          <p:nvPr/>
        </p:nvSpPr>
        <p:spPr>
          <a:xfrm>
            <a:off x="6217920" y="3337560"/>
            <a:ext cx="5669280" cy="306324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429000"/>
            <a:ext cx="5303520" cy="365760"/>
          </a:xfrm>
          <a:prstGeom prst="rect">
            <a:avLst/>
          </a:prstGeom>
          <a:noFill/>
        </p:spPr>
        <p:txBody>
          <a:bodyPr wrap="square">
            <a:spAutoFit/>
          </a:bodyPr>
          <a:lstStyle/>
          <a:p>
            <a:pPr algn="l"/>
            <a:r>
              <a:rPr sz="1200" b="1" i="0">
                <a:solidFill>
                  <a:srgbClr val="FF9900"/>
                </a:solidFill>
                <a:latin typeface="Segoe UI"/>
              </a:rPr>
              <a:t>🏆  Rakiplerden Farkı</a:t>
            </a:r>
          </a:p>
        </p:txBody>
      </p:sp>
      <p:sp>
        <p:nvSpPr>
          <p:cNvPr id="13" name="TextBox 12"/>
          <p:cNvSpPr txBox="1"/>
          <p:nvPr/>
        </p:nvSpPr>
        <p:spPr>
          <a:xfrm>
            <a:off x="6400800" y="3840480"/>
            <a:ext cx="5303520" cy="2468880"/>
          </a:xfrm>
          <a:prstGeom prst="rect">
            <a:avLst/>
          </a:prstGeom>
          <a:noFill/>
        </p:spPr>
        <p:txBody>
          <a:bodyPr wrap="square">
            <a:spAutoFit/>
          </a:bodyPr>
          <a:lstStyle/>
          <a:p>
            <a:pPr algn="l"/>
            <a:r>
              <a:rPr sz="1000" b="0" i="0">
                <a:solidFill>
                  <a:srgbClr val="FFFFFF"/>
                </a:solidFill>
                <a:latin typeface="Segoe UI"/>
              </a:rPr>
              <a:t>Nmap, Nessus gibi araçlar yalnızca IP/port bilgisi döner.
Bu proje ek olarak şunu söyler:
  'Tehlikeli cihaz 192.168.2.45 IP'li cihaz,
   SW-Radyoloji switch'inin 12. portuna bağlı.
   Fiziksel olarak Zemin Kat - Radyoloji'de bulunuyor!'
Bu bilgi, BT güvenlik ekibinin cihaza fiziksel olarak
müdahale edebilmesi için kritik öneme sahiptir.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400" b="1" i="0">
                <a:solidFill>
                  <a:srgbClr val="00E676"/>
                </a:solidFill>
                <a:latin typeface="Segoe UI"/>
              </a:rPr>
              <a:t>🏢  Kurumsal Standart Geliştirmeler</a:t>
            </a:r>
          </a:p>
        </p:txBody>
      </p:sp>
      <p:sp>
        <p:nvSpPr>
          <p:cNvPr id="5" name="Rectangle 4"/>
          <p:cNvSpPr/>
          <p:nvPr/>
        </p:nvSpPr>
        <p:spPr>
          <a:xfrm>
            <a:off x="274320" y="914400"/>
            <a:ext cx="2834640"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914400"/>
            <a:ext cx="2834640" cy="548640"/>
          </a:xfrm>
          <a:prstGeom prst="rect">
            <a:avLst/>
          </a:prstGeom>
          <a:solidFill>
            <a:srgbClr val="F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932688"/>
            <a:ext cx="2651760" cy="502920"/>
          </a:xfrm>
          <a:prstGeom prst="rect">
            <a:avLst/>
          </a:prstGeom>
          <a:noFill/>
        </p:spPr>
        <p:txBody>
          <a:bodyPr wrap="square">
            <a:spAutoFit/>
          </a:bodyPr>
          <a:lstStyle/>
          <a:p>
            <a:pPr algn="ctr"/>
            <a:r>
              <a:rPr sz="1100" b="1" i="0">
                <a:solidFill>
                  <a:srgbClr val="080C14"/>
                </a:solidFill>
                <a:latin typeface="Segoe UI"/>
              </a:rPr>
              <a:t>🔐  Güvenlik
(Şifre Gizleme)</a:t>
            </a:r>
          </a:p>
        </p:txBody>
      </p:sp>
      <p:sp>
        <p:nvSpPr>
          <p:cNvPr id="8" name="TextBox 7"/>
          <p:cNvSpPr txBox="1"/>
          <p:nvPr/>
        </p:nvSpPr>
        <p:spPr>
          <a:xfrm>
            <a:off x="365760" y="1572768"/>
            <a:ext cx="2651760" cy="4663440"/>
          </a:xfrm>
          <a:prstGeom prst="rect">
            <a:avLst/>
          </a:prstGeom>
          <a:noFill/>
        </p:spPr>
        <p:txBody>
          <a:bodyPr wrap="square">
            <a:spAutoFit/>
          </a:bodyPr>
          <a:lstStyle/>
          <a:p>
            <a:pPr algn="l"/>
            <a:r>
              <a:rPr sz="1000" b="0" i="0">
                <a:solidFill>
                  <a:srgbClr val="FFFFFF"/>
                </a:solidFill>
                <a:latin typeface="Segoe UI"/>
              </a:rPr>
              <a:t>Önceki Durum:
Şifre ve API anahtarları kod içine
yazılıydı (hardcoded).
Yapılan Geliştirme:
python-dotenv ile .env dosyasına
taşındı. Github'a gönderilmez.</a:t>
            </a:r>
          </a:p>
        </p:txBody>
      </p:sp>
      <p:sp>
        <p:nvSpPr>
          <p:cNvPr id="9" name="Rectangle 8"/>
          <p:cNvSpPr/>
          <p:nvPr/>
        </p:nvSpPr>
        <p:spPr>
          <a:xfrm>
            <a:off x="3246120" y="914400"/>
            <a:ext cx="2834640"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6120" y="914400"/>
            <a:ext cx="2834640" cy="548640"/>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932688"/>
            <a:ext cx="2651760" cy="502920"/>
          </a:xfrm>
          <a:prstGeom prst="rect">
            <a:avLst/>
          </a:prstGeom>
          <a:noFill/>
        </p:spPr>
        <p:txBody>
          <a:bodyPr wrap="square">
            <a:spAutoFit/>
          </a:bodyPr>
          <a:lstStyle/>
          <a:p>
            <a:pPr algn="ctr"/>
            <a:r>
              <a:rPr sz="1100" b="1" i="0">
                <a:solidFill>
                  <a:srgbClr val="080C14"/>
                </a:solidFill>
                <a:latin typeface="Segoe UI"/>
              </a:rPr>
              <a:t>🗄️  Veritabanı
(Kalıcılık)</a:t>
            </a:r>
          </a:p>
        </p:txBody>
      </p:sp>
      <p:sp>
        <p:nvSpPr>
          <p:cNvPr id="12" name="TextBox 11"/>
          <p:cNvSpPr txBox="1"/>
          <p:nvPr/>
        </p:nvSpPr>
        <p:spPr>
          <a:xfrm>
            <a:off x="3337560" y="1572768"/>
            <a:ext cx="2651760" cy="4663440"/>
          </a:xfrm>
          <a:prstGeom prst="rect">
            <a:avLst/>
          </a:prstGeom>
          <a:noFill/>
        </p:spPr>
        <p:txBody>
          <a:bodyPr wrap="square">
            <a:spAutoFit/>
          </a:bodyPr>
          <a:lstStyle/>
          <a:p>
            <a:pPr algn="l"/>
            <a:r>
              <a:rPr sz="1000" b="0" i="0">
                <a:solidFill>
                  <a:srgbClr val="FFFFFF"/>
                </a:solidFill>
                <a:latin typeface="Segoe UI"/>
              </a:rPr>
              <a:t>Önceki Durum:
Sayfa yenilendiğinde tüm tarama
sonuçları kayboluyordu.
Yapılan Geliştirme:
SQLite entegrasyonu. Her tarama
tarih damgasıyla scans.db'ye yazılır.</a:t>
            </a:r>
          </a:p>
        </p:txBody>
      </p:sp>
      <p:sp>
        <p:nvSpPr>
          <p:cNvPr id="13" name="Rectangle 12"/>
          <p:cNvSpPr/>
          <p:nvPr/>
        </p:nvSpPr>
        <p:spPr>
          <a:xfrm>
            <a:off x="6217920" y="914400"/>
            <a:ext cx="2834640"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914400"/>
            <a:ext cx="2834640" cy="54864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59" y="932688"/>
            <a:ext cx="2651760" cy="502920"/>
          </a:xfrm>
          <a:prstGeom prst="rect">
            <a:avLst/>
          </a:prstGeom>
          <a:noFill/>
        </p:spPr>
        <p:txBody>
          <a:bodyPr wrap="square">
            <a:spAutoFit/>
          </a:bodyPr>
          <a:lstStyle/>
          <a:p>
            <a:pPr algn="ctr"/>
            <a:r>
              <a:rPr sz="1100" b="1" i="0">
                <a:solidFill>
                  <a:srgbClr val="080C14"/>
                </a:solidFill>
                <a:latin typeface="Segoe UI"/>
              </a:rPr>
              <a:t>⏳  Asenkron Mimari
(Timeout Çözümü)</a:t>
            </a:r>
          </a:p>
        </p:txBody>
      </p:sp>
      <p:sp>
        <p:nvSpPr>
          <p:cNvPr id="16" name="TextBox 15"/>
          <p:cNvSpPr txBox="1"/>
          <p:nvPr/>
        </p:nvSpPr>
        <p:spPr>
          <a:xfrm>
            <a:off x="6309359" y="1572768"/>
            <a:ext cx="2651760" cy="4663440"/>
          </a:xfrm>
          <a:prstGeom prst="rect">
            <a:avLst/>
          </a:prstGeom>
          <a:noFill/>
        </p:spPr>
        <p:txBody>
          <a:bodyPr wrap="square">
            <a:spAutoFit/>
          </a:bodyPr>
          <a:lstStyle/>
          <a:p>
            <a:pPr algn="l"/>
            <a:r>
              <a:rPr sz="1000" b="0" i="0">
                <a:solidFill>
                  <a:srgbClr val="FFFFFF"/>
                </a:solidFill>
                <a:latin typeface="Segoe UI"/>
              </a:rPr>
              <a:t>Önceki Durum:
Büyük ağ taramalarında HTTP timeout
oluyordu, arayüz kilitleniyordu.
Yapılan Geliştirme:
threading + Task ID sistemi.
Arayüz her 2 sn'de durum sorgular.</a:t>
            </a:r>
          </a:p>
        </p:txBody>
      </p:sp>
      <p:sp>
        <p:nvSpPr>
          <p:cNvPr id="17" name="Rectangle 16"/>
          <p:cNvSpPr/>
          <p:nvPr/>
        </p:nvSpPr>
        <p:spPr>
          <a:xfrm>
            <a:off x="9189720" y="914400"/>
            <a:ext cx="2834640"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89720" y="914400"/>
            <a:ext cx="2834640" cy="54864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1160" y="932688"/>
            <a:ext cx="2651760" cy="502920"/>
          </a:xfrm>
          <a:prstGeom prst="rect">
            <a:avLst/>
          </a:prstGeom>
          <a:noFill/>
        </p:spPr>
        <p:txBody>
          <a:bodyPr wrap="square">
            <a:spAutoFit/>
          </a:bodyPr>
          <a:lstStyle/>
          <a:p>
            <a:pPr algn="ctr"/>
            <a:r>
              <a:rPr sz="1100" b="1" i="0">
                <a:solidFill>
                  <a:srgbClr val="080C14"/>
                </a:solidFill>
                <a:latin typeface="Segoe UI"/>
              </a:rPr>
              <a:t>📋  Geçmiş Taramalar
(Karşılaştırma)</a:t>
            </a:r>
          </a:p>
        </p:txBody>
      </p:sp>
      <p:sp>
        <p:nvSpPr>
          <p:cNvPr id="20" name="TextBox 19"/>
          <p:cNvSpPr txBox="1"/>
          <p:nvPr/>
        </p:nvSpPr>
        <p:spPr>
          <a:xfrm>
            <a:off x="9281160" y="1572768"/>
            <a:ext cx="2651760" cy="4663440"/>
          </a:xfrm>
          <a:prstGeom prst="rect">
            <a:avLst/>
          </a:prstGeom>
          <a:noFill/>
        </p:spPr>
        <p:txBody>
          <a:bodyPr wrap="square">
            <a:spAutoFit/>
          </a:bodyPr>
          <a:lstStyle/>
          <a:p>
            <a:pPr algn="l"/>
            <a:r>
              <a:rPr sz="1000" b="0" i="0">
                <a:solidFill>
                  <a:srgbClr val="FFFFFF"/>
                </a:solidFill>
                <a:latin typeface="Segoe UI"/>
              </a:rPr>
              <a:t>Önceki Durum:
Sadece anlık tarama sonucu
görüntülenebiliyordu.
Yapılan Geliştirme:
/api/history endpoint'i ile son
10 tarama arayüzde listelenir.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400" b="1" i="0">
                <a:solidFill>
                  <a:srgbClr val="00F2FE"/>
                </a:solidFill>
                <a:latin typeface="Segoe UI"/>
              </a:rPr>
              <a:t>🖥️  Web Arayüzü — Kontrol Paneli</a:t>
            </a:r>
          </a:p>
        </p:txBody>
      </p:sp>
      <p:sp>
        <p:nvSpPr>
          <p:cNvPr id="5" name="Rectangle 4"/>
          <p:cNvSpPr/>
          <p:nvPr/>
        </p:nvSpPr>
        <p:spPr>
          <a:xfrm>
            <a:off x="274320" y="914400"/>
            <a:ext cx="3749039" cy="256032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024128"/>
            <a:ext cx="3474720" cy="411480"/>
          </a:xfrm>
          <a:prstGeom prst="rect">
            <a:avLst/>
          </a:prstGeom>
          <a:noFill/>
        </p:spPr>
        <p:txBody>
          <a:bodyPr wrap="square">
            <a:spAutoFit/>
          </a:bodyPr>
          <a:lstStyle/>
          <a:p>
            <a:pPr algn="l"/>
            <a:r>
              <a:rPr sz="1200" b="1" i="0">
                <a:solidFill>
                  <a:srgbClr val="00F2FE"/>
                </a:solidFill>
                <a:latin typeface="Segoe UI"/>
              </a:rPr>
              <a:t>🔐  Güvenli Giriş</a:t>
            </a:r>
          </a:p>
        </p:txBody>
      </p:sp>
      <p:sp>
        <p:nvSpPr>
          <p:cNvPr id="7" name="TextBox 6"/>
          <p:cNvSpPr txBox="1"/>
          <p:nvPr/>
        </p:nvSpPr>
        <p:spPr>
          <a:xfrm>
            <a:off x="411479" y="1481328"/>
            <a:ext cx="3474720" cy="1828800"/>
          </a:xfrm>
          <a:prstGeom prst="rect">
            <a:avLst/>
          </a:prstGeom>
          <a:noFill/>
        </p:spPr>
        <p:txBody>
          <a:bodyPr wrap="square">
            <a:spAutoFit/>
          </a:bodyPr>
          <a:lstStyle/>
          <a:p>
            <a:pPr algn="l"/>
            <a:r>
              <a:rPr sz="1050" b="0" i="0">
                <a:solidFill>
                  <a:srgbClr val="FFFFFF"/>
                </a:solidFill>
                <a:latin typeface="Segoe UI"/>
              </a:rPr>
              <a:t>Session tabanlı login sistemi.
.env'den okunan kimlik bilgileriyle
kimlik doğrulaması yapılır.</a:t>
            </a:r>
          </a:p>
        </p:txBody>
      </p:sp>
      <p:sp>
        <p:nvSpPr>
          <p:cNvPr id="8" name="Rectangle 7"/>
          <p:cNvSpPr/>
          <p:nvPr/>
        </p:nvSpPr>
        <p:spPr>
          <a:xfrm>
            <a:off x="4251959" y="914400"/>
            <a:ext cx="3749039" cy="256032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024128"/>
            <a:ext cx="3474720" cy="411480"/>
          </a:xfrm>
          <a:prstGeom prst="rect">
            <a:avLst/>
          </a:prstGeom>
          <a:noFill/>
        </p:spPr>
        <p:txBody>
          <a:bodyPr wrap="square">
            <a:spAutoFit/>
          </a:bodyPr>
          <a:lstStyle/>
          <a:p>
            <a:pPr algn="l"/>
            <a:r>
              <a:rPr sz="1200" b="1" i="0">
                <a:solidFill>
                  <a:srgbClr val="00F2FE"/>
                </a:solidFill>
                <a:latin typeface="Segoe UI"/>
              </a:rPr>
              <a:t>📊  İstatistik Kartları</a:t>
            </a:r>
          </a:p>
        </p:txBody>
      </p:sp>
      <p:sp>
        <p:nvSpPr>
          <p:cNvPr id="10" name="TextBox 9"/>
          <p:cNvSpPr txBox="1"/>
          <p:nvPr/>
        </p:nvSpPr>
        <p:spPr>
          <a:xfrm>
            <a:off x="4389120" y="1481328"/>
            <a:ext cx="3474720" cy="1828800"/>
          </a:xfrm>
          <a:prstGeom prst="rect">
            <a:avLst/>
          </a:prstGeom>
          <a:noFill/>
        </p:spPr>
        <p:txBody>
          <a:bodyPr wrap="square">
            <a:spAutoFit/>
          </a:bodyPr>
          <a:lstStyle/>
          <a:p>
            <a:pPr algn="l"/>
            <a:r>
              <a:rPr sz="1050" b="0" i="0">
                <a:solidFill>
                  <a:srgbClr val="FFFFFF"/>
                </a:solidFill>
                <a:latin typeface="Segoe UI"/>
              </a:rPr>
              <a:t>Taranan cihaz sayısı, Kritik/Yüksek/
Orta/Düşük risk sayıları anlık
güncellenen kartlarda görünür.</a:t>
            </a:r>
          </a:p>
        </p:txBody>
      </p:sp>
      <p:sp>
        <p:nvSpPr>
          <p:cNvPr id="11" name="Rectangle 10"/>
          <p:cNvSpPr/>
          <p:nvPr/>
        </p:nvSpPr>
        <p:spPr>
          <a:xfrm>
            <a:off x="8229600" y="914400"/>
            <a:ext cx="3749039" cy="256032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024128"/>
            <a:ext cx="3474720" cy="411480"/>
          </a:xfrm>
          <a:prstGeom prst="rect">
            <a:avLst/>
          </a:prstGeom>
          <a:noFill/>
        </p:spPr>
        <p:txBody>
          <a:bodyPr wrap="square">
            <a:spAutoFit/>
          </a:bodyPr>
          <a:lstStyle/>
          <a:p>
            <a:pPr algn="l"/>
            <a:r>
              <a:rPr sz="1200" b="1" i="0">
                <a:solidFill>
                  <a:srgbClr val="00F2FE"/>
                </a:solidFill>
                <a:latin typeface="Segoe UI"/>
              </a:rPr>
              <a:t>🎯  Tarama Kontrolü</a:t>
            </a:r>
          </a:p>
        </p:txBody>
      </p:sp>
      <p:sp>
        <p:nvSpPr>
          <p:cNvPr id="13" name="TextBox 12"/>
          <p:cNvSpPr txBox="1"/>
          <p:nvPr/>
        </p:nvSpPr>
        <p:spPr>
          <a:xfrm>
            <a:off x="8366760" y="1481328"/>
            <a:ext cx="3474720" cy="1828800"/>
          </a:xfrm>
          <a:prstGeom prst="rect">
            <a:avLst/>
          </a:prstGeom>
          <a:noFill/>
        </p:spPr>
        <p:txBody>
          <a:bodyPr wrap="square">
            <a:spAutoFit/>
          </a:bodyPr>
          <a:lstStyle/>
          <a:p>
            <a:pPr algn="l"/>
            <a:r>
              <a:rPr sz="1050" b="0" i="0">
                <a:solidFill>
                  <a:srgbClr val="FFFFFF"/>
                </a:solidFill>
                <a:latin typeface="Segoe UI"/>
              </a:rPr>
              <a:t>Subnet veya özel IP girilebilir.
İlerleme çubuğu ve hız göstergesi
gerçek zamanlı güncellenir.</a:t>
            </a:r>
          </a:p>
        </p:txBody>
      </p:sp>
      <p:sp>
        <p:nvSpPr>
          <p:cNvPr id="14" name="Rectangle 13"/>
          <p:cNvSpPr/>
          <p:nvPr/>
        </p:nvSpPr>
        <p:spPr>
          <a:xfrm>
            <a:off x="274320" y="3749039"/>
            <a:ext cx="3749039" cy="256032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79" y="3858768"/>
            <a:ext cx="3474720" cy="411480"/>
          </a:xfrm>
          <a:prstGeom prst="rect">
            <a:avLst/>
          </a:prstGeom>
          <a:noFill/>
        </p:spPr>
        <p:txBody>
          <a:bodyPr wrap="square">
            <a:spAutoFit/>
          </a:bodyPr>
          <a:lstStyle/>
          <a:p>
            <a:pPr algn="l"/>
            <a:r>
              <a:rPr sz="1200" b="1" i="0">
                <a:solidFill>
                  <a:srgbClr val="00F2FE"/>
                </a:solidFill>
                <a:latin typeface="Segoe UI"/>
              </a:rPr>
              <a:t>📺  Canlı Log Terminali</a:t>
            </a:r>
          </a:p>
        </p:txBody>
      </p:sp>
      <p:sp>
        <p:nvSpPr>
          <p:cNvPr id="16" name="TextBox 15"/>
          <p:cNvSpPr txBox="1"/>
          <p:nvPr/>
        </p:nvSpPr>
        <p:spPr>
          <a:xfrm>
            <a:off x="411479" y="4315968"/>
            <a:ext cx="3474720" cy="1828800"/>
          </a:xfrm>
          <a:prstGeom prst="rect">
            <a:avLst/>
          </a:prstGeom>
          <a:noFill/>
        </p:spPr>
        <p:txBody>
          <a:bodyPr wrap="square">
            <a:spAutoFit/>
          </a:bodyPr>
          <a:lstStyle/>
          <a:p>
            <a:pPr algn="l"/>
            <a:r>
              <a:rPr sz="1050" b="0" i="0">
                <a:solidFill>
                  <a:srgbClr val="FFFFFF"/>
                </a:solidFill>
                <a:latin typeface="Segoe UI"/>
              </a:rPr>
              <a:t>Simüle edilmiş terminal ekranında
tarama adımları canlı loglanır.
Glassmorphism dark tasarım.</a:t>
            </a:r>
          </a:p>
        </p:txBody>
      </p:sp>
      <p:sp>
        <p:nvSpPr>
          <p:cNvPr id="17" name="Rectangle 16"/>
          <p:cNvSpPr/>
          <p:nvPr/>
        </p:nvSpPr>
        <p:spPr>
          <a:xfrm>
            <a:off x="4251959" y="3749039"/>
            <a:ext cx="3749039" cy="256032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3858768"/>
            <a:ext cx="3474720" cy="411480"/>
          </a:xfrm>
          <a:prstGeom prst="rect">
            <a:avLst/>
          </a:prstGeom>
          <a:noFill/>
        </p:spPr>
        <p:txBody>
          <a:bodyPr wrap="square">
            <a:spAutoFit/>
          </a:bodyPr>
          <a:lstStyle/>
          <a:p>
            <a:pPr algn="l"/>
            <a:r>
              <a:rPr sz="1200" b="1" i="0">
                <a:solidFill>
                  <a:srgbClr val="00F2FE"/>
                </a:solidFill>
                <a:latin typeface="Segoe UI"/>
              </a:rPr>
              <a:t>🍩  İnteraktif Grafik</a:t>
            </a:r>
          </a:p>
        </p:txBody>
      </p:sp>
      <p:sp>
        <p:nvSpPr>
          <p:cNvPr id="19" name="TextBox 18"/>
          <p:cNvSpPr txBox="1"/>
          <p:nvPr/>
        </p:nvSpPr>
        <p:spPr>
          <a:xfrm>
            <a:off x="4389120" y="4315968"/>
            <a:ext cx="3474720" cy="1828800"/>
          </a:xfrm>
          <a:prstGeom prst="rect">
            <a:avLst/>
          </a:prstGeom>
          <a:noFill/>
        </p:spPr>
        <p:txBody>
          <a:bodyPr wrap="square">
            <a:spAutoFit/>
          </a:bodyPr>
          <a:lstStyle/>
          <a:p>
            <a:pPr algn="l"/>
            <a:r>
              <a:rPr sz="1050" b="0" i="0">
                <a:solidFill>
                  <a:srgbClr val="FFFFFF"/>
                </a:solidFill>
                <a:latin typeface="Segoe UI"/>
              </a:rPr>
              <a:t>Chart.js ile donut grafiği.
Grafik dilimlerine tıklayınca
tablo otomatik filtrelenir.</a:t>
            </a:r>
          </a:p>
        </p:txBody>
      </p:sp>
      <p:sp>
        <p:nvSpPr>
          <p:cNvPr id="20" name="Rectangle 19"/>
          <p:cNvSpPr/>
          <p:nvPr/>
        </p:nvSpPr>
        <p:spPr>
          <a:xfrm>
            <a:off x="8229600" y="3749039"/>
            <a:ext cx="3749039" cy="256032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3858768"/>
            <a:ext cx="3474720" cy="411480"/>
          </a:xfrm>
          <a:prstGeom prst="rect">
            <a:avLst/>
          </a:prstGeom>
          <a:noFill/>
        </p:spPr>
        <p:txBody>
          <a:bodyPr wrap="square">
            <a:spAutoFit/>
          </a:bodyPr>
          <a:lstStyle/>
          <a:p>
            <a:pPr algn="l"/>
            <a:r>
              <a:rPr sz="1200" b="1" i="0">
                <a:solidFill>
                  <a:srgbClr val="00F2FE"/>
                </a:solidFill>
                <a:latin typeface="Segoe UI"/>
              </a:rPr>
              <a:t>📋  Geçmiş Taramalar</a:t>
            </a:r>
          </a:p>
        </p:txBody>
      </p:sp>
      <p:sp>
        <p:nvSpPr>
          <p:cNvPr id="22" name="TextBox 21"/>
          <p:cNvSpPr txBox="1"/>
          <p:nvPr/>
        </p:nvSpPr>
        <p:spPr>
          <a:xfrm>
            <a:off x="8366760" y="4315968"/>
            <a:ext cx="3474720" cy="1828800"/>
          </a:xfrm>
          <a:prstGeom prst="rect">
            <a:avLst/>
          </a:prstGeom>
          <a:noFill/>
        </p:spPr>
        <p:txBody>
          <a:bodyPr wrap="square">
            <a:spAutoFit/>
          </a:bodyPr>
          <a:lstStyle/>
          <a:p>
            <a:pPr algn="l"/>
            <a:r>
              <a:rPr sz="1050" b="0" i="0">
                <a:solidFill>
                  <a:srgbClr val="FFFFFF"/>
                </a:solidFill>
                <a:latin typeface="Segoe UI"/>
              </a:rPr>
              <a:t>Veritabanından çekilen geçmiş
taramalar tarih ve risk özeti
ile listelenir.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0"/>
            <a:ext cx="12188952" cy="3657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94360"/>
          </a:xfrm>
          <a:prstGeom prst="rect">
            <a:avLst/>
          </a:prstGeom>
          <a:noFill/>
        </p:spPr>
        <p:txBody>
          <a:bodyPr wrap="square">
            <a:spAutoFit/>
          </a:bodyPr>
          <a:lstStyle/>
          <a:p>
            <a:pPr algn="l"/>
            <a:r>
              <a:rPr sz="2400" b="1" i="0">
                <a:solidFill>
                  <a:srgbClr val="00E676"/>
                </a:solidFill>
                <a:latin typeface="Segoe UI"/>
              </a:rPr>
              <a:t>🎓  Sonuç &amp; Öğrenilen Kavramlar</a:t>
            </a:r>
          </a:p>
        </p:txBody>
      </p:sp>
      <p:sp>
        <p:nvSpPr>
          <p:cNvPr id="5" name="Rectangle 4"/>
          <p:cNvSpPr/>
          <p:nvPr/>
        </p:nvSpPr>
        <p:spPr>
          <a:xfrm>
            <a:off x="274320" y="914400"/>
            <a:ext cx="5669280" cy="54864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5303520" cy="411480"/>
          </a:xfrm>
          <a:prstGeom prst="rect">
            <a:avLst/>
          </a:prstGeom>
          <a:noFill/>
        </p:spPr>
        <p:txBody>
          <a:bodyPr wrap="square">
            <a:spAutoFit/>
          </a:bodyPr>
          <a:lstStyle/>
          <a:p>
            <a:pPr algn="l"/>
            <a:r>
              <a:rPr sz="1300" b="1" i="0">
                <a:solidFill>
                  <a:srgbClr val="00E676"/>
                </a:solidFill>
                <a:latin typeface="Segoe UI"/>
              </a:rPr>
              <a:t>💡  Bu Proje Boyunca Öğrendiklerim</a:t>
            </a:r>
          </a:p>
        </p:txBody>
      </p:sp>
      <p:sp>
        <p:nvSpPr>
          <p:cNvPr id="7" name="TextBox 6"/>
          <p:cNvSpPr txBox="1"/>
          <p:nvPr/>
        </p:nvSpPr>
        <p:spPr>
          <a:xfrm>
            <a:off x="457200" y="1508760"/>
            <a:ext cx="5303520" cy="4754880"/>
          </a:xfrm>
          <a:prstGeom prst="rect">
            <a:avLst/>
          </a:prstGeom>
          <a:noFill/>
        </p:spPr>
        <p:txBody>
          <a:bodyPr wrap="square">
            <a:spAutoFit/>
          </a:bodyPr>
          <a:lstStyle/>
          <a:p>
            <a:pPr algn="l"/>
            <a:r>
              <a:rPr sz="1050" b="0" i="0">
                <a:solidFill>
                  <a:srgbClr val="FFFFFF"/>
                </a:solidFill>
                <a:latin typeface="Segoe UI"/>
              </a:rPr>
              <a:t>🔹  Ağ güvenliği temelleri: Port tarama, banner
      grabbing, zafiyet analizi
🔹  Python ile gerçek ağ programlama:
      socket, subprocess, threading
🔹  SNMP protokolü ve MIB standartları
      (BRIDGE-MIB, dot1dTpFdbPort OID)
🔹  Flask ile RESTful API geliştirme:
      Session yönetimi, JSON endpoint'leri
🔹  SQLite ile veritabanı tasarımı ve ORM
      uygulamadan bağımsız veri kalıcılığı
🔹  Asenkron programlama: Thread pool,
      Task ID + Polling pattern
🔹  Güvenli uygulama geliştirme:
      .env, hardcoded secret zararları
🔹  Frontend: Glassmorphism CSS, Chart.js
      animasyonları, responsive tasarım</a:t>
            </a:r>
          </a:p>
        </p:txBody>
      </p:sp>
      <p:sp>
        <p:nvSpPr>
          <p:cNvPr id="8" name="Rectangle 7"/>
          <p:cNvSpPr/>
          <p:nvPr/>
        </p:nvSpPr>
        <p:spPr>
          <a:xfrm>
            <a:off x="6217920" y="914400"/>
            <a:ext cx="5669280" cy="256032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005840"/>
            <a:ext cx="5303520" cy="411480"/>
          </a:xfrm>
          <a:prstGeom prst="rect">
            <a:avLst/>
          </a:prstGeom>
          <a:noFill/>
        </p:spPr>
        <p:txBody>
          <a:bodyPr wrap="square">
            <a:spAutoFit/>
          </a:bodyPr>
          <a:lstStyle/>
          <a:p>
            <a:pPr algn="l"/>
            <a:r>
              <a:rPr sz="1300" b="1" i="0">
                <a:solidFill>
                  <a:srgbClr val="00F2FE"/>
                </a:solidFill>
                <a:latin typeface="Segoe UI"/>
              </a:rPr>
              <a:t>✅  Projenin Ulaştığı Sonuç</a:t>
            </a:r>
          </a:p>
        </p:txBody>
      </p:sp>
      <p:sp>
        <p:nvSpPr>
          <p:cNvPr id="10" name="TextBox 9"/>
          <p:cNvSpPr txBox="1"/>
          <p:nvPr/>
        </p:nvSpPr>
        <p:spPr>
          <a:xfrm>
            <a:off x="6400800" y="1508760"/>
            <a:ext cx="5303520" cy="1828800"/>
          </a:xfrm>
          <a:prstGeom prst="rect">
            <a:avLst/>
          </a:prstGeom>
          <a:noFill/>
        </p:spPr>
        <p:txBody>
          <a:bodyPr wrap="square">
            <a:spAutoFit/>
          </a:bodyPr>
          <a:lstStyle/>
          <a:p>
            <a:pPr algn="l"/>
            <a:r>
              <a:rPr sz="1050" b="0" i="0">
                <a:solidFill>
                  <a:srgbClr val="FFFFFF"/>
                </a:solidFill>
                <a:latin typeface="Segoe UI"/>
              </a:rPr>
              <a:t>Piyasada genel amaçlı araçların yapamadığı
şekilde hastaneye özel ağ güvenlik analizi yapan,
cihazın sadece açığını değil fiziksel konumunu
da tespit edebilen, geçmişe dönük karşılaştırma
yapabilen kurumsal standarta sahip bir web
uygulaması başarıyla tamamlanmıştır.</a:t>
            </a:r>
          </a:p>
        </p:txBody>
      </p:sp>
      <p:sp>
        <p:nvSpPr>
          <p:cNvPr id="11" name="Rectangle 10"/>
          <p:cNvSpPr/>
          <p:nvPr/>
        </p:nvSpPr>
        <p:spPr>
          <a:xfrm>
            <a:off x="6217920" y="3657600"/>
            <a:ext cx="5669280" cy="2743200"/>
          </a:xfrm>
          <a:prstGeom prst="rect">
            <a:avLst/>
          </a:prstGeom>
          <a:solidFill>
            <a:srgbClr val="0C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749039"/>
            <a:ext cx="5303520" cy="411480"/>
          </a:xfrm>
          <a:prstGeom prst="rect">
            <a:avLst/>
          </a:prstGeom>
          <a:noFill/>
        </p:spPr>
        <p:txBody>
          <a:bodyPr wrap="square">
            <a:spAutoFit/>
          </a:bodyPr>
          <a:lstStyle/>
          <a:p>
            <a:pPr algn="l"/>
            <a:r>
              <a:rPr sz="1300" b="1" i="0">
                <a:solidFill>
                  <a:srgbClr val="FF9900"/>
                </a:solidFill>
                <a:latin typeface="Segoe UI"/>
              </a:rPr>
              <a:t>🚀  Gelecek Geliştirmeler</a:t>
            </a:r>
          </a:p>
        </p:txBody>
      </p:sp>
      <p:sp>
        <p:nvSpPr>
          <p:cNvPr id="13" name="TextBox 12"/>
          <p:cNvSpPr txBox="1"/>
          <p:nvPr/>
        </p:nvSpPr>
        <p:spPr>
          <a:xfrm>
            <a:off x="6400800" y="4251960"/>
            <a:ext cx="5303520" cy="2011680"/>
          </a:xfrm>
          <a:prstGeom prst="rect">
            <a:avLst/>
          </a:prstGeom>
          <a:noFill/>
        </p:spPr>
        <p:txBody>
          <a:bodyPr wrap="square">
            <a:spAutoFit/>
          </a:bodyPr>
          <a:lstStyle/>
          <a:p>
            <a:pPr algn="l"/>
            <a:r>
              <a:rPr sz="1050" b="0" i="0">
                <a:solidFill>
                  <a:srgbClr val="FFFFFF"/>
                </a:solidFill>
                <a:latin typeface="Segoe UI"/>
              </a:rPr>
              <a:t>🔹  JWT tabanlı gerçek kimlik doğrulama
🔹  E-posta ile otomatik risk uyarı sistemi
🔹  CVE veritabanı entegrasyonu
      (Gerçek zafiyet eşleştirme)
🔹  Celery + Redis ile gerçek görev kuyruğu
🔹  Docker container ile taşınabilir dağıtım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